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F7EE58-790E-4EE6-A339-200EBA2956A2}">
  <a:tblStyle styleId="{3EF7EE58-790E-4EE6-A339-200EBA2956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da62599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da62599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a625995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da625995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468577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c468577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da62599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da62599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c468577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c468577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a625995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a625995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a625995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da625995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5b5c2330cdf109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5b5c2330cdf109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171a728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1171a728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a6259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da6259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da625995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da625995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da625995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da625995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5b5c2330cdf109d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5b5c2330cdf109d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5b5c2330cdf109d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5b5c2330cdf109d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a625995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da625995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a625995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a625995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a625995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da625995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c4685776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c4685776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PRÁCTICA 3 AC</a:t>
            </a:r>
            <a:endParaRPr sz="3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EJECUCIÓN DE INSTRUCCIONES EN UN COMPUTADOR SERIE VON NEUMANN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VON NEUMANN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0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44"/>
              <a:buChar char="-"/>
            </a:pPr>
            <a:r>
              <a:rPr lang="es" sz="1644">
                <a:solidFill>
                  <a:schemeClr val="dk1"/>
                </a:solidFill>
              </a:rPr>
              <a:t>Cada instrucción debe completar su ejecución antes de que comience la siguiente.</a:t>
            </a:r>
            <a:endParaRPr sz="1644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4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381000" y="1666875"/>
            <a:ext cx="8382150" cy="3095700"/>
            <a:chOff x="381000" y="1666875"/>
            <a:chExt cx="8382150" cy="3095700"/>
          </a:xfrm>
        </p:grpSpPr>
        <p:sp>
          <p:nvSpPr>
            <p:cNvPr id="62" name="Google Shape;62;p14"/>
            <p:cNvSpPr/>
            <p:nvPr/>
          </p:nvSpPr>
          <p:spPr>
            <a:xfrm>
              <a:off x="381000" y="1666875"/>
              <a:ext cx="4095900" cy="3095700"/>
            </a:xfrm>
            <a:prstGeom prst="roundRect">
              <a:avLst>
                <a:gd fmla="val 246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23875" y="1762125"/>
              <a:ext cx="38100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Registros del Sistema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PC: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Contador de Programa. Próxima instrucción.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Registro de Instrucciones. Decodificación.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Registro de Direcciones. Acceso a memoria.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RM: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Registro de Memoria. Datos (E/S).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Puntero de Pila. Subrutinas.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SR: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Registro de Estado. Flags (Z, S, C, O).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4667250" y="1666875"/>
              <a:ext cx="4095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4810125" y="1762125"/>
              <a:ext cx="3810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Unidades Funcionales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UC: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Unidad de Control. Decodificación y señales.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UO / ALU: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Unidad Operativa. Operaciones aritmético-lógicas.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667250" y="3286125"/>
              <a:ext cx="40959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4810125" y="3381375"/>
              <a:ext cx="3810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Almacenamiento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Banco de Registros: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Propósito general.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MP:</a:t>
              </a:r>
              <a:r>
                <a:rPr lang="es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Memoria Principal. Instrucciones y datos.</a:t>
              </a:r>
              <a:endPara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SEÑALES DE NIVEL Y DE FLANCO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Señales de nivel:</a:t>
            </a:r>
            <a:r>
              <a:rPr lang="es">
                <a:solidFill>
                  <a:schemeClr val="dk1"/>
                </a:solidFill>
              </a:rPr>
              <a:t> activas (a 1 o a 0) durante todo el ciclo de reloj. Indican un estado sostenido.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Señales de flanco:</a:t>
            </a:r>
            <a:r>
              <a:rPr lang="es">
                <a:solidFill>
                  <a:schemeClr val="dk1"/>
                </a:solidFill>
              </a:rPr>
              <a:t> activan y desactivan dentro de un mismo ciclo.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Flanco de bajada:</a:t>
            </a:r>
            <a:r>
              <a:rPr lang="es">
                <a:solidFill>
                  <a:schemeClr val="dk1"/>
                </a:solidFill>
              </a:rPr>
              <a:t> determinar cuándo los buses están libres y la operación ha terminado.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DE LA PRÁCTICA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S</a:t>
            </a:r>
            <a:r>
              <a:rPr lang="es">
                <a:solidFill>
                  <a:schemeClr val="dk1"/>
                </a:solidFill>
              </a:rPr>
              <a:t>imulador CRONOS realizar la ejecución de las microinstrucciones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MULT .3,.2(10)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BZ[5] ;salta si 0, con Biestable de resultado cero desactivado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LD .3,(.4++)10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CALL/RET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CLZ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CLASIFICACIÓN INSTRUCCIONES</a:t>
            </a:r>
            <a:endParaRPr/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{3EF7EE58-790E-4EE6-A339-200EBA2956A2}</a:tableStyleId>
              </a:tblPr>
              <a:tblGrid>
                <a:gridCol w="1866525"/>
                <a:gridCol w="1985650"/>
                <a:gridCol w="314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/>
                        <a:t>Instrucción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800">
                          <a:solidFill>
                            <a:schemeClr val="dk1"/>
                          </a:solidFill>
                        </a:rPr>
                        <a:t>Tipo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>
                          <a:solidFill>
                            <a:schemeClr val="dk1"/>
                          </a:solidFill>
                        </a:rPr>
                        <a:t>Modo de direccionamiento 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MULT .3, (.2) 10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Aritmético-lógica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Indirecto a registro con desplazamiento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BZ [5] {Z0}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Control de flujo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Directo a memoria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LD .3, (.4++) 10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Transferencia de datos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Indirecto a registro con postincremento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CALL / RET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Control de flujo (subrutina)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Directo a registro (inmediato)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CLZ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Control flags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/>
                        <a:t>— (no accede a memoria)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52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Realización de la práctica: CRONOS Y DosBox</a:t>
            </a:r>
            <a:endParaRPr/>
          </a:p>
        </p:txBody>
      </p:sp>
      <p:pic>
        <p:nvPicPr>
          <p:cNvPr id="91" name="Google Shape;91;p18" title="WhatsApp Image 2026-05-13 at 10.30.33.jpeg"/>
          <p:cNvPicPr preferRelativeResize="0"/>
          <p:nvPr/>
        </p:nvPicPr>
        <p:blipFill rotWithShape="1">
          <a:blip r:embed="rId3">
            <a:alphaModFix/>
          </a:blip>
          <a:srcRect b="13333" l="0" r="0" t="5221"/>
          <a:stretch/>
        </p:blipFill>
        <p:spPr>
          <a:xfrm rot="-5400000">
            <a:off x="2317088" y="-212412"/>
            <a:ext cx="4104124" cy="59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92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INFORMACIÓN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665600"/>
            <a:ext cx="4203300" cy="30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BZ [5] {Z0} </a:t>
            </a:r>
            <a:r>
              <a:rPr lang="es" sz="1600">
                <a:solidFill>
                  <a:schemeClr val="dk1"/>
                </a:solidFill>
              </a:rPr>
              <a:t>— no salta por Z=0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→ D (para decodificar la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M[D]→ RI (leer la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Se comprueba el flag Z → está a 0, </a:t>
            </a:r>
            <a:r>
              <a:rPr b="1" lang="es" sz="1600">
                <a:solidFill>
                  <a:schemeClr val="dk1"/>
                </a:solidFill>
              </a:rPr>
              <a:t>no se salta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+ 1 → PC (avanza normalmente)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0</a:t>
            </a:r>
            <a:r>
              <a:rPr lang="es" sz="1600">
                <a:solidFill>
                  <a:schemeClr val="dk1"/>
                </a:solidFill>
              </a:rPr>
              <a:t>→ RF (reiniciar fase)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629000" y="665600"/>
            <a:ext cx="4203300" cy="4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LD .3, (.4++) 10</a:t>
            </a:r>
            <a:r>
              <a:rPr lang="es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.4 + 10 → D (cálculo de dirección efectiva para buscar dato)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.4 +1 → .4 (post-incremento después de cálculo de dirección)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D (lectura de dirección efectiva para saber valor después)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.3 (el dato llega al registro destino)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→ D (decodificar siguiente instrucción)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RI (leer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+ 1 → PC (avanza normalmente)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0 → RF (reiniciar fase)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35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INFORMACIÓN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923075"/>
            <a:ext cx="7035000" cy="3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CALL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RI(despl) → D (decodificar dirección de bifurcación)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RI (leer dirección de memoria de D instrucción a la que saltas)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→ SP (guardar PC en pila)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SP - 1 → SP (mover puntero de pila)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RI (despl)</a:t>
            </a:r>
            <a:r>
              <a:rPr b="1" lang="es" sz="1600">
                <a:solidFill>
                  <a:schemeClr val="dk1"/>
                </a:solidFill>
              </a:rPr>
              <a:t> </a:t>
            </a:r>
            <a:r>
              <a:rPr lang="es" sz="1600">
                <a:solidFill>
                  <a:schemeClr val="dk1"/>
                </a:solidFill>
              </a:rPr>
              <a:t>→ PC (actualizar PC a dirección de bifurcación que es MULT)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+1 → PC (PC </a:t>
            </a:r>
            <a:r>
              <a:rPr lang="es" sz="1600">
                <a:solidFill>
                  <a:schemeClr val="dk1"/>
                </a:solidFill>
              </a:rPr>
              <a:t>continúa</a:t>
            </a:r>
            <a:r>
              <a:rPr lang="es" sz="1600">
                <a:solidFill>
                  <a:schemeClr val="dk1"/>
                </a:solidFill>
              </a:rPr>
              <a:t> desde ahí)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0 → RF (resetear fase)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INFORMACIÓN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655200" y="760775"/>
            <a:ext cx="7833600" cy="4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 MULT .3, (.2) 10 </a:t>
            </a:r>
            <a:r>
              <a:rPr lang="es" sz="1600">
                <a:solidFill>
                  <a:schemeClr val="dk1"/>
                </a:solidFill>
              </a:rPr>
              <a:t>— </a:t>
            </a:r>
            <a:r>
              <a:rPr b="1" lang="es" sz="1600">
                <a:solidFill>
                  <a:schemeClr val="dk1"/>
                </a:solidFill>
              </a:rPr>
              <a:t> </a:t>
            </a:r>
            <a:r>
              <a:rPr lang="es" sz="1600">
                <a:solidFill>
                  <a:schemeClr val="dk1"/>
                </a:solidFill>
              </a:rPr>
              <a:t>dentro de rutina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.2 + 10 → D (decodificar dirección efectiva del operando)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D (leer dirección efectiva)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RM (leer valor de dirección y guardarlo en RM temporalmente por buses ocupados para llegar al MUX)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→ D (decodificar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RI (leer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.3*RM → RA (Guardar en acumulador resultado de operación por buses ocupados y activar FEST)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RA → .3 (escribir resultado en .3)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+1 → PC (avanza normalmente)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0 → RF (resetear fase)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27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INFORMACIÓN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36850"/>
            <a:ext cx="4260300" cy="4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RET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SP → D,PC (decodificar puntero de pila que apuntaba al PC antes de bifurcar y actualizar PC a ese valor)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SP +1 </a:t>
            </a:r>
            <a:r>
              <a:rPr b="1" lang="es" sz="1600">
                <a:solidFill>
                  <a:schemeClr val="dk1"/>
                </a:solidFill>
              </a:rPr>
              <a:t>→ </a:t>
            </a:r>
            <a:r>
              <a:rPr lang="es" sz="1600">
                <a:solidFill>
                  <a:schemeClr val="dk1"/>
                </a:solidFill>
              </a:rPr>
              <a:t>SP (Apuntar a elemento anterior de pila)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→ RI (leer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+1 </a:t>
            </a:r>
            <a:r>
              <a:rPr b="1" lang="es" sz="1600">
                <a:solidFill>
                  <a:schemeClr val="dk1"/>
                </a:solidFill>
              </a:rPr>
              <a:t>→ </a:t>
            </a:r>
            <a:r>
              <a:rPr lang="es" sz="1600">
                <a:solidFill>
                  <a:schemeClr val="dk1"/>
                </a:solidFill>
              </a:rPr>
              <a:t>PC (avanza normalmente desde donde lo dejó antes de CALL)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0 </a:t>
            </a:r>
            <a:r>
              <a:rPr b="1" lang="es" sz="1600">
                <a:solidFill>
                  <a:schemeClr val="dk1"/>
                </a:solidFill>
              </a:rPr>
              <a:t>→ </a:t>
            </a:r>
            <a:r>
              <a:rPr lang="es" sz="1600">
                <a:solidFill>
                  <a:schemeClr val="dk1"/>
                </a:solidFill>
              </a:rPr>
              <a:t>RF (resetear fase)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785125" y="1136850"/>
            <a:ext cx="3805500" cy="4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CLZ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→ D (decodificar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FEST (restablecer biestable BZ)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M[D] </a:t>
            </a:r>
            <a:r>
              <a:rPr b="1" lang="es" sz="1600">
                <a:solidFill>
                  <a:schemeClr val="dk1"/>
                </a:solidFill>
              </a:rPr>
              <a:t>→ </a:t>
            </a:r>
            <a:r>
              <a:rPr lang="es" sz="1600">
                <a:solidFill>
                  <a:schemeClr val="dk1"/>
                </a:solidFill>
              </a:rPr>
              <a:t>RI</a:t>
            </a:r>
            <a:r>
              <a:rPr b="1" lang="es" sz="1600">
                <a:solidFill>
                  <a:schemeClr val="dk1"/>
                </a:solidFill>
              </a:rPr>
              <a:t> </a:t>
            </a:r>
            <a:r>
              <a:rPr lang="es" sz="1600">
                <a:solidFill>
                  <a:schemeClr val="dk1"/>
                </a:solidFill>
              </a:rPr>
              <a:t>(leer siguiente instrucción)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PC + 1 → PC (avanza normalmente)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0 </a:t>
            </a:r>
            <a:r>
              <a:rPr b="1" lang="es" sz="1600">
                <a:solidFill>
                  <a:schemeClr val="dk1"/>
                </a:solidFill>
              </a:rPr>
              <a:t>→ </a:t>
            </a:r>
            <a:r>
              <a:rPr lang="es" sz="1600">
                <a:solidFill>
                  <a:schemeClr val="dk1"/>
                </a:solidFill>
              </a:rPr>
              <a:t>RF (resetear fase)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 EN CRONOS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DEF RUTINA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MULT .3 [(.2) 10]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RET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BZ [5] {Z0}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LD .3 [(.4++) 10]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CALL 12 {RUTINA}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CLZ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END.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CRONOGRAMA SEÑALES DE CONTROL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4789254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250" y="1170125"/>
            <a:ext cx="435475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APUNTES DEL CRONOGRAMA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Cada instrucción completa todos sus periodos antes de empezar la siguiente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Se puede observar el periodo de </a:t>
            </a:r>
            <a:r>
              <a:rPr b="1" lang="es">
                <a:solidFill>
                  <a:schemeClr val="dk1"/>
                </a:solidFill>
              </a:rPr>
              <a:t>decodificación</a:t>
            </a:r>
            <a:r>
              <a:rPr lang="es">
                <a:solidFill>
                  <a:schemeClr val="dk1"/>
                </a:solidFill>
              </a:rPr>
              <a:t> (UC parpadeando)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El flag de </a:t>
            </a:r>
            <a:r>
              <a:rPr b="1" lang="es">
                <a:solidFill>
                  <a:schemeClr val="dk1"/>
                </a:solidFill>
              </a:rPr>
              <a:t>paridad FP</a:t>
            </a:r>
            <a:r>
              <a:rPr lang="es">
                <a:solidFill>
                  <a:schemeClr val="dk1"/>
                </a:solidFill>
              </a:rPr>
              <a:t> se activa siempre que se accede a memoria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FEST</a:t>
            </a:r>
            <a:r>
              <a:rPr lang="es">
                <a:solidFill>
                  <a:schemeClr val="dk1"/>
                </a:solidFill>
              </a:rPr>
              <a:t> se activa en MULT al operar con datos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La pila crece y decrece correctamente con CALL y RET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ERROR ENCONTRADO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5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La multiplicación no activaba MUX YY con puerta 2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Multiplicación: definida pero nunca se ejecuta realmente: no lee segundo operando de YY.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Altera flujo de información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CORRECCIÓN DEL ERROR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GENCRON: </a:t>
            </a:r>
            <a:r>
              <a:rPr lang="es">
                <a:solidFill>
                  <a:schemeClr val="dk1"/>
                </a:solidFill>
              </a:rPr>
              <a:t> definir nuevo cronograma para MULT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Activar puerta 10 de MUX YY en el periodo correspondiente, restaurar la operación X × 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Volvemos a ejecutar </a:t>
            </a:r>
            <a:r>
              <a:rPr b="1" lang="es">
                <a:solidFill>
                  <a:schemeClr val="dk1"/>
                </a:solidFill>
              </a:rPr>
              <a:t>MODIFICA</a:t>
            </a:r>
            <a:r>
              <a:rPr lang="es">
                <a:solidFill>
                  <a:schemeClr val="dk1"/>
                </a:solidFill>
              </a:rPr>
              <a:t> con el nuevo fichero .CAR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Vinculamos el cronograma corregido a la instrucción MULT.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Al lanzar CRONOS comprobamos que la multiplicación vuelve a ejecutarse correctamente y el cronograma es idéntico al original.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ERROR GENERADO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GENCRON:</a:t>
            </a:r>
            <a:r>
              <a:rPr lang="es">
                <a:solidFill>
                  <a:schemeClr val="dk1"/>
                </a:solidFill>
              </a:rPr>
              <a:t> generar cronograma alternativo para MULT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Elimina la señal OP (la que ordena a la ALU realizar la operación).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Multiplicación: definida pero nunca se ejecuta realmente: lee operandos, pero no X × 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Altera flujo de información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MODIFICA</a:t>
            </a:r>
            <a:r>
              <a:rPr lang="es">
                <a:solidFill>
                  <a:schemeClr val="dk1"/>
                </a:solidFill>
              </a:rPr>
              <a:t>: aplicar cambio</a:t>
            </a:r>
            <a:endParaRPr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Nombre del fichero .CAR generado con GENCRON</a:t>
            </a:r>
            <a:endParaRPr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Instrucción a modificar: MULT</a:t>
            </a:r>
            <a:endParaRPr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Modo de direccionamiento correspondiente</a:t>
            </a:r>
            <a:endParaRPr>
              <a:solidFill>
                <a:schemeClr val="dk1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Se confirma la sustitución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CRONOGRAMA CON ERROR</a:t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477621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225" y="1170125"/>
            <a:ext cx="436777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CORRECCIÓN DEL ERROR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>
                <a:solidFill>
                  <a:schemeClr val="dk1"/>
                </a:solidFill>
              </a:rPr>
              <a:t>GENCRON: </a:t>
            </a:r>
            <a:r>
              <a:rPr lang="es">
                <a:solidFill>
                  <a:schemeClr val="dk1"/>
                </a:solidFill>
              </a:rPr>
              <a:t> definir nuevo cronograma para MULT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Incluir señal OP en el periodo correspondiente, restaurar la operación X × 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Volvemos a ejecutar </a:t>
            </a:r>
            <a:r>
              <a:rPr b="1" lang="es">
                <a:solidFill>
                  <a:schemeClr val="dk1"/>
                </a:solidFill>
              </a:rPr>
              <a:t>MODIFICA</a:t>
            </a:r>
            <a:r>
              <a:rPr lang="es">
                <a:solidFill>
                  <a:schemeClr val="dk1"/>
                </a:solidFill>
              </a:rPr>
              <a:t> con el nuevo fichero .CAR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Vinculamos el cronograma corregido a la instrucción MULT.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Al lanzar CRONOS comprobamos que la multiplicación vuelve a ejecutarse correctamente y el cronograma es idéntico al original.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Resultados/Conclusiones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Comprender cómo se ejecutan las instrucciones en un computador serie Von Neumann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Observar que ninguna instrucción comienza hasta que anterior ha finalizado.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Distinguir entre </a:t>
            </a:r>
            <a:r>
              <a:rPr b="1" lang="es">
                <a:solidFill>
                  <a:schemeClr val="dk1"/>
                </a:solidFill>
              </a:rPr>
              <a:t>señales de nivel</a:t>
            </a:r>
            <a:r>
              <a:rPr lang="es">
                <a:solidFill>
                  <a:schemeClr val="dk1"/>
                </a:solidFill>
              </a:rPr>
              <a:t> (activas durante todo el ciclo) y </a:t>
            </a:r>
            <a:r>
              <a:rPr b="1" lang="es">
                <a:solidFill>
                  <a:schemeClr val="dk1"/>
                </a:solidFill>
              </a:rPr>
              <a:t>señales de flanco</a:t>
            </a:r>
            <a:r>
              <a:rPr lang="es">
                <a:solidFill>
                  <a:schemeClr val="dk1"/>
                </a:solidFill>
              </a:rPr>
              <a:t> (activas momentáneamente), y la importancia del flanco de bajada para controlar el bus y sincronizar operaciones.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Clasificación de instrucciones y modos de direccionamiento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Uso de </a:t>
            </a:r>
            <a:r>
              <a:rPr b="1" lang="es">
                <a:solidFill>
                  <a:schemeClr val="dk1"/>
                </a:solidFill>
              </a:rPr>
              <a:t>GENCRON y MODIFICA:</a:t>
            </a:r>
            <a:r>
              <a:rPr lang="es">
                <a:solidFill>
                  <a:schemeClr val="dk1"/>
                </a:solidFill>
              </a:rPr>
              <a:t> entender cómo un error sutil en el cronograma (eliminar la señal OP de MULT o activar puerta de MUX YY) altera el comportamiento del procesador sin que necesariamente sea evidente a simple vista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