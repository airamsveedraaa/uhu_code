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57" r:id="rId7"/>
    <p:sldId id="258" r:id="rId8"/>
    <p:sldId id="259" r:id="rId9"/>
    <p:sldId id="260" r:id="rId10"/>
    <p:sldId id="261" r:id="rId11"/>
    <p:sldId id="265" r:id="rId12"/>
    <p:sldId id="268" r:id="rId13"/>
    <p:sldId id="269" r:id="rId14"/>
    <p:sldId id="270" r:id="rId15"/>
    <p:sldId id="266" r:id="rId16"/>
    <p:sldId id="267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1DCF2-B29C-4BF5-5D87-66B3591FE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028B52-F3EC-F51E-7F6B-238568D96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0AF62A-DB58-A88A-952D-25A3CD5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C6816-F801-8524-65F0-03A1D698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203DE-D3E3-6271-5475-48F07D0A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49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C8665-5D52-53A5-C023-87A3C6C0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F84A3A-FEB3-9EDA-0253-F7EC16BF3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CD823-5D06-943F-2F86-7C702372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F9C3C5-F703-32A4-4063-DF5825B9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384EAF-B767-B528-51AF-E52E5A88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28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DEAA9-A8F8-393B-1F46-8C6A21FF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CD5A8-4108-DE00-4895-2664DA7C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114579-06E1-FB12-65D6-B1D0FB70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F04B71-F540-2810-9FEA-2BF21C35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67615A-CF73-9DDD-5005-C2FCE156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636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5655A-6977-1C16-7610-A3700DFD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67F2F-0093-B466-DA28-224B3A563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BF97E8-9EE4-26E5-1BA1-7D0434DF0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CD225B-EEBC-2646-23D9-0104DBDC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F3EEDF-4352-0817-DB74-B8A86187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DFD25E-C3B8-752E-3CE5-753846A4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256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06FD3-2F8F-9E9D-77B8-D47AFDF1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C79F8B-CD1C-5AF4-59B3-D869D6A88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94B592-73EB-69F1-BA8D-3DFF3FFB8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FB5C78-CE17-CA65-262E-EDAC26F3B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457B65-708D-33A2-72B0-3CAC6F5AF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CFC8C9-C6A3-3F44-D0F0-BE43249F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B53A79B-5BD1-2316-A3A5-8BE6DBB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6212FFE-A908-D2F7-8352-9946A17E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1346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87290-7F27-FE1F-7187-A8C1C2AA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4918C0-7872-B845-A81F-520120FD7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742EC7-BE54-AA56-0585-65CB1F05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C7CE4D-8295-7956-CCF9-877F490A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093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3C4E98-D022-88CF-3179-606C5B28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13FAEF-9073-3DD7-2643-96CD6851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8979C-1CFF-03C6-CBC4-A91E955D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931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ABB0F-4787-94C6-48A8-88F80009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A85EBF-A51E-9F2D-D610-8DD25F7EC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BEF883-9212-2CF5-2B89-E84268836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16E66B-CAAB-8643-0BB9-16346EC0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E253E8-DFAA-FCA1-7EA8-415136FF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822542-9797-A665-0051-CA013577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90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851E6-B102-AA7A-02C4-57721E62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5CA53BD-1B39-A952-52F3-84293CD08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5BB3DF-D478-85BE-F3A9-2DAE87F3E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FA2182-9897-9A2B-90CE-F68B3805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FEFA53-4615-677E-1C7F-DB68B3F9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E9D9AE-3568-8F8E-CD1C-24704E70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794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8DEFC-6C14-09ED-849C-5BA95551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F99D88-BA47-ADD7-A927-81A514305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6E287C-B5B1-6D3D-6717-2C249663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7AA5DF-E491-BA1B-C7E4-30F06FBA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2F155-89F4-F330-272D-D6317C2D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802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A6E49F-0250-3B24-B52F-D3338ED74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80817E-D28B-EE44-392D-87B058620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BAC19D-5F26-D250-B901-838321B39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203D4A-6488-C537-2460-B9AA4508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3888E5-88AE-A8C7-5D26-33B33C92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840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4BB929-7047-DE8B-CEDB-767BAFE8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0205D7-D3BB-5D82-B682-F1EC2A39A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64908D-0201-C83B-8D50-6370FFCB6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E8B8A-9786-4042-AF69-B7DA8B334E01}" type="datetimeFigureOut">
              <a:rPr lang="es-ES" smtClean="0"/>
              <a:t>15/04/2026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A5044F-F5D1-62DC-9DA1-88E5DAF50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06EE13-489D-DA73-A4A7-6B29C5A0D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5D5DD-22C9-453F-8B97-2341AF8905F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3894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FAC7D-9AEB-51EB-65E1-DB166584E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 anchor="ctr">
            <a:normAutofit/>
          </a:bodyPr>
          <a:lstStyle/>
          <a:p>
            <a:r>
              <a:rPr lang="es-ES" sz="4400"/>
              <a:t>ESTUDIO DE LA MEMORIA CACHÉ:</a:t>
            </a:r>
            <a:br>
              <a:rPr lang="es-ES" sz="4400"/>
            </a:br>
            <a:r>
              <a:rPr lang="es-ES" sz="4400"/>
              <a:t>CORRESPONDENCIA, REEMPLAZO Y TRAZAS</a:t>
            </a:r>
          </a:p>
        </p:txBody>
      </p:sp>
    </p:spTree>
    <p:extLst>
      <p:ext uri="{BB962C8B-B14F-4D97-AF65-F5344CB8AC3E}">
        <p14:creationId xmlns:p14="http://schemas.microsoft.com/office/powerpoint/2010/main" val="79138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B5A9D-3A33-22F7-87E3-E076902C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CONCEPTOS FALLOS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DB2C98-4837-5D2A-8709-C2748EFC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" dirty="0"/>
              <a:t>Fallo: procesador pide dato y no está en la caché, va a buscarlo a MP, se trae un </a:t>
            </a:r>
            <a:r>
              <a:rPr lang="es-ES" b="1" dirty="0"/>
              <a:t>bloque entero</a:t>
            </a:r>
          </a:p>
          <a:p>
            <a:r>
              <a:rPr lang="es-ES" dirty="0"/>
              <a:t>Tasa de fallos: tamaño caché y bloque (localidad temporal y espacial)</a:t>
            </a:r>
          </a:p>
          <a:p>
            <a:r>
              <a:rPr lang="es-ES" dirty="0"/>
              <a:t>Bloques más grandes: mejora espacial (trae más vecinos), perjudica temporal (caben menos bloques)</a:t>
            </a:r>
          </a:p>
        </p:txBody>
      </p:sp>
    </p:spTree>
    <p:extLst>
      <p:ext uri="{BB962C8B-B14F-4D97-AF65-F5344CB8AC3E}">
        <p14:creationId xmlns:p14="http://schemas.microsoft.com/office/powerpoint/2010/main" val="277836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306A0-1613-F5D1-D022-44DE332C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FALLOS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C9E430-70EE-AE50-6609-E51AF53D7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2613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FORZOSO</a:t>
            </a:r>
          </a:p>
          <a:p>
            <a:pPr marL="0" indent="0">
              <a:buNone/>
            </a:pPr>
            <a:r>
              <a:rPr lang="es-ES" dirty="0"/>
              <a:t>Primer acceso a bloque  </a:t>
            </a:r>
          </a:p>
          <a:p>
            <a:pPr marL="0" indent="0">
              <a:buNone/>
            </a:pPr>
            <a:r>
              <a:rPr lang="es-ES" dirty="0"/>
              <a:t>Fallo inevitable.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FD0913-F198-2702-F686-1C1E5D777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9560" y="1825625"/>
            <a:ext cx="367284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DE CAPACIDAD</a:t>
            </a:r>
          </a:p>
          <a:p>
            <a:pPr marL="0" indent="0">
              <a:buNone/>
            </a:pPr>
            <a:r>
              <a:rPr lang="es-ES" dirty="0"/>
              <a:t>No hay espacio para todos los bloques.</a:t>
            </a:r>
          </a:p>
          <a:p>
            <a:pPr marL="0" indent="0">
              <a:buNone/>
            </a:pPr>
            <a:r>
              <a:rPr lang="es-ES" dirty="0"/>
              <a:t>Caché demasiado pequeña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72BFA00B-F164-0FF6-27DC-CD81EDC1EA23}"/>
              </a:ext>
            </a:extLst>
          </p:cNvPr>
          <p:cNvSpPr txBox="1">
            <a:spLocks/>
          </p:cNvSpPr>
          <p:nvPr/>
        </p:nvSpPr>
        <p:spPr>
          <a:xfrm>
            <a:off x="7879080" y="1825625"/>
            <a:ext cx="367284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DE CONFLICTO</a:t>
            </a:r>
          </a:p>
          <a:p>
            <a:pPr marL="0" indent="0">
              <a:buNone/>
            </a:pPr>
            <a:r>
              <a:rPr lang="es-ES"/>
              <a:t>2 bloques pelean por el mismo índice en directa y asociativa por conjuntos aunque hayan otros huecos libres</a:t>
            </a:r>
          </a:p>
        </p:txBody>
      </p:sp>
    </p:spTree>
    <p:extLst>
      <p:ext uri="{BB962C8B-B14F-4D97-AF65-F5344CB8AC3E}">
        <p14:creationId xmlns:p14="http://schemas.microsoft.com/office/powerpoint/2010/main" val="334314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E04D6-658E-624B-28E8-BA0FAAFD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FUNCIONES DE CORRESPONDECIA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75A20C-5097-0349-7119-D28126EC3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423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DIRECTA</a:t>
            </a:r>
          </a:p>
          <a:p>
            <a:pPr marL="0" indent="0">
              <a:buNone/>
            </a:pPr>
            <a:r>
              <a:rPr lang="es-ES" dirty="0"/>
              <a:t>1 posición única por bloque.</a:t>
            </a:r>
          </a:p>
          <a:p>
            <a:pPr marL="0" indent="0">
              <a:buNone/>
            </a:pPr>
            <a:r>
              <a:rPr lang="es-ES" dirty="0"/>
              <a:t>Sin algoritmo de reemplazo, rápida</a:t>
            </a:r>
          </a:p>
          <a:p>
            <a:pPr marL="0" indent="0">
              <a:buNone/>
            </a:pPr>
            <a:r>
              <a:rPr lang="es-ES" dirty="0"/>
              <a:t>Muchos fallos de conflicto si 2 bloques comparten índice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5977AB-12B3-F525-E5F2-B43737A5B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0" y="1825625"/>
            <a:ext cx="364236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TOTALMENTE ASOCIATIVA</a:t>
            </a:r>
          </a:p>
          <a:p>
            <a:pPr marL="0" indent="0">
              <a:buNone/>
            </a:pPr>
            <a:r>
              <a:rPr lang="es-ES" dirty="0"/>
              <a:t>Todos los bloques en cualquier posición.</a:t>
            </a:r>
          </a:p>
          <a:p>
            <a:pPr marL="0" indent="0">
              <a:buNone/>
            </a:pPr>
            <a:r>
              <a:rPr lang="es-ES" dirty="0"/>
              <a:t>No fallos de conflicto, aprovecha espacio</a:t>
            </a:r>
          </a:p>
          <a:p>
            <a:pPr marL="0" indent="0">
              <a:buNone/>
            </a:pPr>
            <a:r>
              <a:rPr lang="es-ES" dirty="0"/>
              <a:t>No fallo por conflicto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D38CB04A-AFF2-D731-7F02-F51E8C91D10B}"/>
              </a:ext>
            </a:extLst>
          </p:cNvPr>
          <p:cNvSpPr txBox="1">
            <a:spLocks/>
          </p:cNvSpPr>
          <p:nvPr/>
        </p:nvSpPr>
        <p:spPr>
          <a:xfrm>
            <a:off x="7924800" y="1825625"/>
            <a:ext cx="364236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ASOCIATIVA POR CONJUNTOS</a:t>
            </a:r>
          </a:p>
          <a:p>
            <a:pPr marL="0" indent="0">
              <a:buNone/>
            </a:pPr>
            <a:r>
              <a:rPr lang="es-ES" dirty="0"/>
              <a:t>Bloques a un conjunto concreto, dentro a cualquier posición.</a:t>
            </a:r>
          </a:p>
        </p:txBody>
      </p:sp>
    </p:spTree>
    <p:extLst>
      <p:ext uri="{BB962C8B-B14F-4D97-AF65-F5344CB8AC3E}">
        <p14:creationId xmlns:p14="http://schemas.microsoft.com/office/powerpoint/2010/main" val="68474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ED7BC-570B-AC34-5754-64F56C480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ALGORITMOS DE REEMPLAZO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2A7A1-C519-CBB9-4AEC-E447E9E27B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FIFO</a:t>
            </a:r>
          </a:p>
          <a:p>
            <a:pPr marL="0" indent="0">
              <a:buNone/>
            </a:pPr>
            <a:r>
              <a:rPr lang="es-ES" dirty="0"/>
              <a:t>Echa al que más lleva en caché.</a:t>
            </a:r>
          </a:p>
          <a:p>
            <a:pPr marL="0" indent="0">
              <a:buNone/>
            </a:pPr>
            <a:r>
              <a:rPr lang="es-ES" dirty="0"/>
              <a:t>Fallos: patrón accesos repetitivo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84EA4D-EFF8-2E2A-9864-5D5311A65B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LRU</a:t>
            </a:r>
          </a:p>
          <a:p>
            <a:pPr marL="0" indent="0">
              <a:buNone/>
            </a:pPr>
            <a:r>
              <a:rPr lang="es-ES"/>
              <a:t>Echa el menos usado </a:t>
            </a:r>
            <a:r>
              <a:rPr lang="es-ES" err="1"/>
              <a:t>reci</a:t>
            </a:r>
            <a:r>
              <a:rPr lang="es-ES"/>
              <a:t>entemente.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413A92-A738-0506-25E3-64305100B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813" y="3429000"/>
            <a:ext cx="4800374" cy="30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3F133B-27A1-49D5-6339-FD48333427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412" y="3429000"/>
            <a:ext cx="4800373" cy="30771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8682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21D1E-7983-D4C1-8533-DE4DECDC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EECCD-86E2-1875-A8C6-74A2B272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ALGORITMOS DE REEMPLAZO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9FEAFD-F6FA-83F4-7B03-7A0700E5D2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LFU</a:t>
            </a:r>
          </a:p>
          <a:p>
            <a:pPr marL="0" indent="0">
              <a:buNone/>
            </a:pPr>
            <a:r>
              <a:rPr lang="es-ES"/>
              <a:t>Echa al accedido menos veces en total.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908503-DA17-B8DE-2143-30951E65D9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ALEATORIO</a:t>
            </a:r>
          </a:p>
          <a:p>
            <a:pPr marL="0" indent="0">
              <a:buNone/>
            </a:pPr>
            <a:r>
              <a:rPr lang="es-ES"/>
              <a:t>Echa sin criterio lógico, al azar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E176B3-CBB8-EB0E-A133-E20950514D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3085548"/>
            <a:ext cx="4907280" cy="309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E9DE066-81CE-078F-6278-E4F20CDFA5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" y="3085548"/>
            <a:ext cx="5044441" cy="3227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01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1410-75F3-612A-9219-02E5D417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FICHEROS DE TRAZA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567B6F-D4AF-906D-A47C-90F3707CA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965" y="1825625"/>
            <a:ext cx="5338482" cy="2212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FORMATO </a:t>
            </a:r>
          </a:p>
          <a:p>
            <a:pPr marL="0" indent="0">
              <a:buNone/>
            </a:pPr>
            <a:r>
              <a:rPr lang="es-ES" dirty="0"/>
              <a:t>Cada línea: E | DIRECCIÓN</a:t>
            </a:r>
          </a:p>
          <a:p>
            <a:pPr marL="0" indent="0">
              <a:buNone/>
            </a:pPr>
            <a:r>
              <a:rPr lang="es-ES" dirty="0"/>
              <a:t>E puede ser {0,2,3} {capturar instrucción, leer, escribir dato}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14DAD9-9AF6-5234-A610-4C04423E2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4271196"/>
            <a:ext cx="5181600" cy="22129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TERCER FICHERO</a:t>
            </a:r>
          </a:p>
          <a:p>
            <a:pPr marL="0" indent="0">
              <a:buNone/>
            </a:pPr>
            <a:r>
              <a:rPr lang="es-ES"/>
              <a:t>Patrón de ciclo largo, muchos accesos a un mismo bloque para que LFU lo mantenga siempre y no de fallo, ganando frente a LRU.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CC98E358-AF90-A131-A41D-78495591BA6B}"/>
              </a:ext>
            </a:extLst>
          </p:cNvPr>
          <p:cNvSpPr txBox="1">
            <a:spLocks/>
          </p:cNvSpPr>
          <p:nvPr/>
        </p:nvSpPr>
        <p:spPr>
          <a:xfrm>
            <a:off x="6324600" y="1647346"/>
            <a:ext cx="5181600" cy="22129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PRIMER FICHERO</a:t>
            </a:r>
          </a:p>
          <a:p>
            <a:pPr marL="0" indent="0">
              <a:buNone/>
            </a:pPr>
            <a:r>
              <a:rPr lang="es-ES" dirty="0"/>
              <a:t>Patrón de ciclo sobre 8 bloques , conflicto en BLQ 4, haciendo que se expulse al 0 que es el siguiente. Pierde FIFO.</a:t>
            </a:r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426ABA6F-84A7-2635-DC76-4BA09E02464D}"/>
              </a:ext>
            </a:extLst>
          </p:cNvPr>
          <p:cNvSpPr txBox="1">
            <a:spLocks/>
          </p:cNvSpPr>
          <p:nvPr/>
        </p:nvSpPr>
        <p:spPr>
          <a:xfrm>
            <a:off x="774348" y="4271197"/>
            <a:ext cx="5181600" cy="22129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SEGUNDO FICHERO</a:t>
            </a:r>
          </a:p>
          <a:p>
            <a:pPr marL="0" indent="0">
              <a:buNone/>
            </a:pPr>
            <a:r>
              <a:rPr lang="es-ES" dirty="0"/>
              <a:t>Patrón que aprovecha localidad temporal, gana LRU porque mantiene a los accedidos recientemente</a:t>
            </a:r>
          </a:p>
        </p:txBody>
      </p:sp>
    </p:spTree>
    <p:extLst>
      <p:ext uri="{BB962C8B-B14F-4D97-AF65-F5344CB8AC3E}">
        <p14:creationId xmlns:p14="http://schemas.microsoft.com/office/powerpoint/2010/main" val="226640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44CDA-7E22-0E71-F639-104661FD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COMO HEMOS HECHO LOS FICHEROS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D37334-25DC-879D-34BD-84C6114BA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33419"/>
            <a:ext cx="5181600" cy="26537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800" dirty="0"/>
              <a:t>Fichero 1</a:t>
            </a:r>
          </a:p>
          <a:p>
            <a:pPr marL="0" indent="0">
              <a:buNone/>
            </a:pPr>
            <a:r>
              <a:rPr lang="es-ES" sz="1800" dirty="0"/>
              <a:t>9 </a:t>
            </a:r>
            <a:r>
              <a:rPr lang="es-ES" sz="1800" dirty="0" err="1"/>
              <a:t>Blqs</a:t>
            </a:r>
            <a:r>
              <a:rPr lang="es-ES" sz="1800" dirty="0"/>
              <a:t> de MP </a:t>
            </a:r>
          </a:p>
          <a:p>
            <a:pPr marL="0" indent="0">
              <a:buNone/>
            </a:pPr>
            <a:r>
              <a:rPr lang="es-ES" sz="1800" dirty="0"/>
              <a:t>Tiene 8 </a:t>
            </a:r>
            <a:r>
              <a:rPr lang="es-ES" sz="1800" dirty="0" err="1"/>
              <a:t>Blqs</a:t>
            </a:r>
            <a:r>
              <a:rPr lang="es-ES" sz="1800" dirty="0"/>
              <a:t>, siempre sobra 1 (expulsar) </a:t>
            </a:r>
          </a:p>
          <a:p>
            <a:pPr marL="0" indent="0">
              <a:buNone/>
            </a:pPr>
            <a:r>
              <a:rPr lang="es-ES" sz="1800" dirty="0"/>
              <a:t>Expulsar bloque 12 para que genere conflicto con el 4</a:t>
            </a:r>
          </a:p>
          <a:p>
            <a:pPr marL="0" indent="0">
              <a:buNone/>
            </a:pPr>
            <a:r>
              <a:rPr lang="es-ES" sz="1800" dirty="0"/>
              <a:t>FIFO: 12 expulsa al 0 (lleva más tiempo en Caché)</a:t>
            </a:r>
          </a:p>
          <a:p>
            <a:pPr marL="0" indent="0">
              <a:buNone/>
            </a:pPr>
            <a:r>
              <a:rPr lang="es-ES" sz="1800" dirty="0"/>
              <a:t>Etiqueta: 2 (lectura)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239880-0A8F-EDC5-0401-262914681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33419"/>
            <a:ext cx="5181600" cy="27501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1800"/>
              <a:t>Fichero 2. LRU gana a LFU</a:t>
            </a:r>
          </a:p>
          <a:p>
            <a:pPr marL="0" indent="0">
              <a:buNone/>
            </a:pPr>
            <a:r>
              <a:rPr lang="es-ES" sz="1800"/>
              <a:t>Todo al conjunto 0: compiten por el mismo espacio, generan conflictos</a:t>
            </a:r>
          </a:p>
          <a:p>
            <a:pPr marL="0" indent="0">
              <a:buNone/>
            </a:pPr>
            <a:r>
              <a:rPr lang="es-ES" sz="1800"/>
              <a:t>Patrón: llamadas a bloque 0 y 4 y algunas al 8 </a:t>
            </a:r>
          </a:p>
          <a:p>
            <a:pPr marL="0" indent="0">
              <a:buNone/>
            </a:pPr>
            <a:r>
              <a:rPr lang="es-ES" sz="1800"/>
              <a:t>Expulsar al menos usado o al menos reciente</a:t>
            </a:r>
          </a:p>
          <a:p>
            <a:pPr marL="0" indent="0">
              <a:buNone/>
            </a:pPr>
            <a:r>
              <a:rPr lang="es-ES" sz="1800"/>
              <a:t>LRU toma mejores decisiones, LFU expulsa siempre al 8 generando más fallos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573E39A-8358-14E3-BC39-7DAF49B17DF9}"/>
              </a:ext>
            </a:extLst>
          </p:cNvPr>
          <p:cNvSpPr txBox="1">
            <a:spLocks/>
          </p:cNvSpPr>
          <p:nvPr/>
        </p:nvSpPr>
        <p:spPr>
          <a:xfrm>
            <a:off x="836271" y="4399063"/>
            <a:ext cx="9898283" cy="2653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/>
              <a:t>Fichero 3. LFU gana a LRU</a:t>
            </a:r>
          </a:p>
          <a:p>
            <a:pPr>
              <a:buNone/>
            </a:pPr>
            <a:r>
              <a:rPr lang="es-ES" sz="1800"/>
              <a:t>Todo al conjunto 0: compiten por el mismo espacio, generan conflictos</a:t>
            </a:r>
          </a:p>
          <a:p>
            <a:pPr marL="0" indent="0">
              <a:buNone/>
            </a:pPr>
            <a:r>
              <a:rPr lang="es-ES" sz="1800"/>
              <a:t>Patrón: llamadas del bloque15 al 0</a:t>
            </a:r>
          </a:p>
          <a:p>
            <a:pPr marL="0" indent="0">
              <a:buNone/>
            </a:pPr>
            <a:r>
              <a:rPr lang="es-ES" sz="1800"/>
              <a:t>LFU: nunca expulsa al 0 por frecuencia (mantiene en memoria), al volver a acceder a 0 no da fallo, mejor resultado</a:t>
            </a:r>
          </a:p>
          <a:p>
            <a:pPr marL="0" indent="0">
              <a:buNone/>
            </a:pPr>
            <a:r>
              <a:rPr lang="es-ES" sz="1800"/>
              <a:t>LRU: al meter el tercer bloque  expulsará al 0 por ser el menos reciente pero, luego al volver a acceder a 0 da fallo</a:t>
            </a:r>
          </a:p>
        </p:txBody>
      </p:sp>
    </p:spTree>
    <p:extLst>
      <p:ext uri="{BB962C8B-B14F-4D97-AF65-F5344CB8AC3E}">
        <p14:creationId xmlns:p14="http://schemas.microsoft.com/office/powerpoint/2010/main" val="362194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A80D2-11A5-A7DC-0426-D7E53681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TRAZA: FICHERO 1 (</a:t>
            </a:r>
            <a:r>
              <a:rPr lang="es-ES" dirty="0" err="1"/>
              <a:t>Dir</a:t>
            </a:r>
            <a:r>
              <a:rPr lang="es-ES" dirty="0"/>
              <a:t>, </a:t>
            </a:r>
            <a:r>
              <a:rPr lang="es-ES" dirty="0" err="1"/>
              <a:t>tot.asoc</a:t>
            </a:r>
            <a:r>
              <a:rPr lang="es-ES" dirty="0"/>
              <a:t>)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DDB826CF-895A-6C3D-C9C2-537237F8D15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63882768"/>
              </p:ext>
            </p:extLst>
          </p:nvPr>
        </p:nvGraphicFramePr>
        <p:xfrm>
          <a:off x="1026089" y="1554072"/>
          <a:ext cx="3245285" cy="5303928"/>
        </p:xfrm>
        <a:graphic>
          <a:graphicData uri="http://schemas.openxmlformats.org/drawingml/2006/table">
            <a:tbl>
              <a:tblPr/>
              <a:tblGrid>
                <a:gridCol w="525101">
                  <a:extLst>
                    <a:ext uri="{9D8B030D-6E8A-4147-A177-3AD203B41FA5}">
                      <a16:colId xmlns:a16="http://schemas.microsoft.com/office/drawing/2014/main" val="482146462"/>
                    </a:ext>
                  </a:extLst>
                </a:gridCol>
                <a:gridCol w="2720184">
                  <a:extLst>
                    <a:ext uri="{9D8B030D-6E8A-4147-A177-3AD203B41FA5}">
                      <a16:colId xmlns:a16="http://schemas.microsoft.com/office/drawing/2014/main" val="4251171270"/>
                    </a:ext>
                  </a:extLst>
                </a:gridCol>
              </a:tblGrid>
              <a:tr h="2465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b="1" baseline="0" dirty="0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100" b="1" baseline="0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255790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B0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418758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B1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B1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761349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B2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B2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98790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B3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B3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00519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B4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78548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B5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B5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0050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B6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 dirty="0">
                          <a:solidFill>
                            <a:srgbClr val="000000"/>
                          </a:solidFill>
                          <a:effectLst/>
                        </a:rPr>
                        <a:t>FALLO — B6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06991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B7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FALLO — B7 entra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944328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69795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aseline="0">
                          <a:solidFill>
                            <a:srgbClr val="000000"/>
                          </a:solidFill>
                          <a:effectLst/>
                        </a:rPr>
                        <a:t>FALLO — B0 entra, B8 sale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414616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B1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211883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B2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15690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B3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24713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28597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B5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55014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B6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505925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B7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213289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95020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100" baseline="0">
                          <a:solidFill>
                            <a:srgbClr val="000000"/>
                          </a:solidFill>
                          <a:effectLst/>
                        </a:rPr>
                        <a:t>FALLO — B0 entra, B8 sale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35379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aseline="0" dirty="0" err="1">
                          <a:solidFill>
                            <a:srgbClr val="000000"/>
                          </a:solidFill>
                          <a:effectLst/>
                        </a:rPr>
                        <a:t>Patron</a:t>
                      </a:r>
                      <a:r>
                        <a:rPr lang="es-ES" sz="1100" baseline="0" dirty="0">
                          <a:solidFill>
                            <a:srgbClr val="000000"/>
                          </a:solidFill>
                          <a:effectLst/>
                        </a:rPr>
                        <a:t> repite desde B1</a:t>
                      </a:r>
                    </a:p>
                  </a:txBody>
                  <a:tcPr marL="37548" marR="37548" marT="18774" marB="1877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094286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18914C78-10CE-195A-3111-C00103B6ECB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822788" y="-272286"/>
            <a:ext cx="11111322" cy="71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317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CC8ABC0-088E-1D61-D72F-81098A3C4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090" y="40657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16900846-9D29-A77F-0338-8F982C289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91638"/>
              </p:ext>
            </p:extLst>
          </p:nvPr>
        </p:nvGraphicFramePr>
        <p:xfrm>
          <a:off x="5160722" y="1574535"/>
          <a:ext cx="6005188" cy="4359712"/>
        </p:xfrm>
        <a:graphic>
          <a:graphicData uri="http://schemas.openxmlformats.org/drawingml/2006/table">
            <a:tbl>
              <a:tblPr/>
              <a:tblGrid>
                <a:gridCol w="3002594">
                  <a:extLst>
                    <a:ext uri="{9D8B030D-6E8A-4147-A177-3AD203B41FA5}">
                      <a16:colId xmlns:a16="http://schemas.microsoft.com/office/drawing/2014/main" val="3259890378"/>
                    </a:ext>
                  </a:extLst>
                </a:gridCol>
                <a:gridCol w="3002594">
                  <a:extLst>
                    <a:ext uri="{9D8B030D-6E8A-4147-A177-3AD203B41FA5}">
                      <a16:colId xmlns:a16="http://schemas.microsoft.com/office/drawing/2014/main" val="1794177830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2108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B0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74719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B1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B1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6259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B2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B2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96811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B3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B3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89259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B4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8750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B5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B5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5814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B6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B6 entra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4342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B7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FALLO — B7 entra (cache llena)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95042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85089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B0 entra, B1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7623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B1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B1 entra, B2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1886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B2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B2 entra, B3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35272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B3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B3 entra, B4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93999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>
                          <a:solidFill>
                            <a:srgbClr val="000000"/>
                          </a:solidFill>
                          <a:effectLst/>
                        </a:rPr>
                        <a:t>FALLO — B4 entra, B5 sale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81645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</a:rPr>
                        <a:t>100% fallos,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</a:rPr>
                        <a:t>patron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</a:rPr>
                        <a:t> repite</a:t>
                      </a:r>
                    </a:p>
                  </a:txBody>
                  <a:tcPr marL="59121" marR="59121" marT="29561" marB="29561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22334"/>
                  </a:ext>
                </a:extLst>
              </a:tr>
            </a:tbl>
          </a:graphicData>
        </a:graphic>
      </p:graphicFrame>
      <p:sp>
        <p:nvSpPr>
          <p:cNvPr id="18" name="Rectangle 4">
            <a:extLst>
              <a:ext uri="{FF2B5EF4-FFF2-40B4-BE49-F238E27FC236}">
                <a16:creationId xmlns:a16="http://schemas.microsoft.com/office/drawing/2014/main" id="{8C1065A2-0840-6FFA-D06D-5146F9BDA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498" y="1497698"/>
            <a:ext cx="89738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107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08CD-EC70-0367-91D3-2A3861B5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C4B80-CE70-68AD-CBCC-81C0F24D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TRAZA: FICHERO 2 (LRU Y LFU)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D752CE-B9BC-5A71-CD23-89CA621624D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822788" y="-272286"/>
            <a:ext cx="11111322" cy="71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317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A3492327-9E60-6C94-AA43-9D2BBD985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637860"/>
              </p:ext>
            </p:extLst>
          </p:nvPr>
        </p:nvGraphicFramePr>
        <p:xfrm>
          <a:off x="838200" y="2464931"/>
          <a:ext cx="5036508" cy="2895600"/>
        </p:xfrm>
        <a:graphic>
          <a:graphicData uri="http://schemas.openxmlformats.org/drawingml/2006/table">
            <a:tbl>
              <a:tblPr/>
              <a:tblGrid>
                <a:gridCol w="2518254">
                  <a:extLst>
                    <a:ext uri="{9D8B030D-6E8A-4147-A177-3AD203B41FA5}">
                      <a16:colId xmlns:a16="http://schemas.microsoft.com/office/drawing/2014/main" val="1381762257"/>
                    </a:ext>
                  </a:extLst>
                </a:gridCol>
                <a:gridCol w="2518254">
                  <a:extLst>
                    <a:ext uri="{9D8B030D-6E8A-4147-A177-3AD203B41FA5}">
                      <a16:colId xmlns:a16="http://schemas.microsoft.com/office/drawing/2014/main" val="3773792062"/>
                    </a:ext>
                  </a:extLst>
                </a:gridCol>
              </a:tblGrid>
              <a:tr h="2583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 dirty="0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935505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 (×10)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×9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177116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 (×10)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×9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216051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502556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B0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299283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506048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529215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719933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866833"/>
                  </a:ext>
                </a:extLst>
              </a:tr>
              <a:tr h="258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 dirty="0">
                          <a:solidFill>
                            <a:srgbClr val="000000"/>
                          </a:solidFill>
                          <a:effectLst/>
                        </a:rPr>
                        <a:t>ACIERTO indefinido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01661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8CBA0156-4020-D22D-17A3-3032D8112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19453"/>
              </p:ext>
            </p:extLst>
          </p:nvPr>
        </p:nvGraphicFramePr>
        <p:xfrm>
          <a:off x="6200384" y="2472260"/>
          <a:ext cx="4819636" cy="2895600"/>
        </p:xfrm>
        <a:graphic>
          <a:graphicData uri="http://schemas.openxmlformats.org/drawingml/2006/table">
            <a:tbl>
              <a:tblPr/>
              <a:tblGrid>
                <a:gridCol w="2409818">
                  <a:extLst>
                    <a:ext uri="{9D8B030D-6E8A-4147-A177-3AD203B41FA5}">
                      <a16:colId xmlns:a16="http://schemas.microsoft.com/office/drawing/2014/main" val="1165562645"/>
                    </a:ext>
                  </a:extLst>
                </a:gridCol>
                <a:gridCol w="2409818">
                  <a:extLst>
                    <a:ext uri="{9D8B030D-6E8A-4147-A177-3AD203B41FA5}">
                      <a16:colId xmlns:a16="http://schemas.microsoft.com/office/drawing/2014/main" val="1377626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 dirty="0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285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 (×10)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×9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564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 (×10)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×9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99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973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 dirty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B0 entra, B8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530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746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125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39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53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 dirty="0">
                          <a:solidFill>
                            <a:srgbClr val="000000"/>
                          </a:solidFill>
                          <a:effectLst/>
                        </a:rPr>
                        <a:t>ACIERTO indefinido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161205"/>
                  </a:ext>
                </a:extLst>
              </a:tr>
            </a:tbl>
          </a:graphicData>
        </a:graphic>
      </p:graphicFrame>
      <p:sp>
        <p:nvSpPr>
          <p:cNvPr id="16" name="Rectangle 3">
            <a:extLst>
              <a:ext uri="{FF2B5EF4-FFF2-40B4-BE49-F238E27FC236}">
                <a16:creationId xmlns:a16="http://schemas.microsoft.com/office/drawing/2014/main" id="{03A3BF2B-DA99-2841-BAE1-AE403BC65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090" y="40657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72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15254-D56D-1575-2C1E-47389E45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44F03-1336-4BC3-9830-15597DDE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TRAZA: FICHERO 3 (LRU Y LFU)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BC49E98-AA7E-CED2-9A1D-F6EC03BBCC2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822788" y="-272286"/>
            <a:ext cx="11111322" cy="71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317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C5AC1AF-1846-5494-C250-AB6AE9D14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090" y="40657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80EB979-6C8A-691B-86B6-19B952961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41210"/>
              </p:ext>
            </p:extLst>
          </p:nvPr>
        </p:nvGraphicFramePr>
        <p:xfrm>
          <a:off x="6268753" y="1713024"/>
          <a:ext cx="4961352" cy="3688080"/>
        </p:xfrm>
        <a:graphic>
          <a:graphicData uri="http://schemas.openxmlformats.org/drawingml/2006/table">
            <a:tbl>
              <a:tblPr/>
              <a:tblGrid>
                <a:gridCol w="2480676">
                  <a:extLst>
                    <a:ext uri="{9D8B030D-6E8A-4147-A177-3AD203B41FA5}">
                      <a16:colId xmlns:a16="http://schemas.microsoft.com/office/drawing/2014/main" val="2244123283"/>
                    </a:ext>
                  </a:extLst>
                </a:gridCol>
                <a:gridCol w="2480676">
                  <a:extLst>
                    <a:ext uri="{9D8B030D-6E8A-4147-A177-3AD203B41FA5}">
                      <a16:colId xmlns:a16="http://schemas.microsoft.com/office/drawing/2014/main" val="4810447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278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 (×15)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×14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8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— B4 entra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00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91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 dirty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59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 dirty="0">
                          <a:solidFill>
                            <a:srgbClr val="000000"/>
                          </a:solidFill>
                          <a:effectLst/>
                        </a:rPr>
                        <a:t>FALLO — B4 entra, B8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02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073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90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B4 entra, B8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3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25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ACIERTO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236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 dirty="0">
                          <a:solidFill>
                            <a:srgbClr val="000000"/>
                          </a:solidFill>
                          <a:effectLst/>
                        </a:rPr>
                        <a:t>Ciclo: FALLO B4, FALLO B8, ACIERTO 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00581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8DF7F0D-12A3-D6BB-89CC-69F97085C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75485"/>
            <a:ext cx="58005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BDBCFBC-1FD8-7BDA-38E8-1FFF42F27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16698"/>
              </p:ext>
            </p:extLst>
          </p:nvPr>
        </p:nvGraphicFramePr>
        <p:xfrm>
          <a:off x="1026090" y="1713024"/>
          <a:ext cx="4627324" cy="3108960"/>
        </p:xfrm>
        <a:graphic>
          <a:graphicData uri="http://schemas.openxmlformats.org/drawingml/2006/table">
            <a:tbl>
              <a:tblPr/>
              <a:tblGrid>
                <a:gridCol w="2313662">
                  <a:extLst>
                    <a:ext uri="{9D8B030D-6E8A-4147-A177-3AD203B41FA5}">
                      <a16:colId xmlns:a16="http://schemas.microsoft.com/office/drawing/2014/main" val="1964261818"/>
                    </a:ext>
                  </a:extLst>
                </a:gridCol>
                <a:gridCol w="2313662">
                  <a:extLst>
                    <a:ext uri="{9D8B030D-6E8A-4147-A177-3AD203B41FA5}">
                      <a16:colId xmlns:a16="http://schemas.microsoft.com/office/drawing/2014/main" val="724085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Bloque MP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400" b="1" baseline="0">
                          <a:solidFill>
                            <a:srgbClr val="000000"/>
                          </a:solidFill>
                          <a:effectLst/>
                        </a:rPr>
                        <a:t>Resultado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38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 (×15)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+ ACIERTO ×14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42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FALLO — B4 entra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38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0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B0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05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B4 entra, B8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162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B8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B8 entra, B0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305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B0 entra, B4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88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B4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>
                          <a:solidFill>
                            <a:srgbClr val="000000"/>
                          </a:solidFill>
                          <a:effectLst/>
                        </a:rPr>
                        <a:t>FALLO — B4 entra, B8 sale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0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400" baseline="0">
                          <a:solidFill>
                            <a:srgbClr val="000000"/>
                          </a:solidFill>
                          <a:effectLst/>
                        </a:rPr>
                        <a:t>...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aseline="0" dirty="0">
                          <a:solidFill>
                            <a:srgbClr val="000000"/>
                          </a:solidFill>
                          <a:effectLst/>
                        </a:rPr>
                        <a:t>Ciclo: FALLO B4, FALLO B8, FALLO B0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174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99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0FFBD-6582-2C12-58F8-435FF62D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RESULTADOS PARTE 1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D0C47C01-4730-B421-95ED-719339DBB5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5231862"/>
              </p:ext>
            </p:extLst>
          </p:nvPr>
        </p:nvGraphicFramePr>
        <p:xfrm>
          <a:off x="997323" y="1490382"/>
          <a:ext cx="10201781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242">
                  <a:extLst>
                    <a:ext uri="{9D8B030D-6E8A-4147-A177-3AD203B41FA5}">
                      <a16:colId xmlns:a16="http://schemas.microsoft.com/office/drawing/2014/main" val="3446551333"/>
                    </a:ext>
                  </a:extLst>
                </a:gridCol>
                <a:gridCol w="2619374">
                  <a:extLst>
                    <a:ext uri="{9D8B030D-6E8A-4147-A177-3AD203B41FA5}">
                      <a16:colId xmlns:a16="http://schemas.microsoft.com/office/drawing/2014/main" val="3307525245"/>
                    </a:ext>
                  </a:extLst>
                </a:gridCol>
                <a:gridCol w="2417356">
                  <a:extLst>
                    <a:ext uri="{9D8B030D-6E8A-4147-A177-3AD203B41FA5}">
                      <a16:colId xmlns:a16="http://schemas.microsoft.com/office/drawing/2014/main" val="2825751826"/>
                    </a:ext>
                  </a:extLst>
                </a:gridCol>
                <a:gridCol w="2797809">
                  <a:extLst>
                    <a:ext uri="{9D8B030D-6E8A-4147-A177-3AD203B41FA5}">
                      <a16:colId xmlns:a16="http://schemas.microsoft.com/office/drawing/2014/main" val="282987504"/>
                    </a:ext>
                  </a:extLst>
                </a:gridCol>
              </a:tblGrid>
              <a:tr h="849797"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Traza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Función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Caché 16 bloques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Caché 8 bloques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354782"/>
                  </a:ext>
                </a:extLst>
              </a:tr>
              <a:tr h="849797"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COMP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Totalmente Asociativa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97,74%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96,71%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967918"/>
                  </a:ext>
                </a:extLst>
              </a:tr>
              <a:tr h="849797"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COMP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Asociativa por  conjuntos(4)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97,70%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95,40%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55572"/>
                  </a:ext>
                </a:extLst>
              </a:tr>
              <a:tr h="849797"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HYDRO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Totalmente Asociativa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96,38%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95,39%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58694"/>
                  </a:ext>
                </a:extLst>
              </a:tr>
              <a:tr h="849797"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HYDRO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Asociativa por  Conjuntos (4)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96,29%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800">
                          <a:solidFill>
                            <a:schemeClr val="tx1"/>
                          </a:solidFill>
                        </a:rPr>
                        <a:t>94,08%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87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36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A66E1-97C6-0689-079D-DC0C0059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RESULTADOS PARTE 2 Y 3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02A7E93-57CC-F8B2-5783-008165DC3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206200"/>
              </p:ext>
            </p:extLst>
          </p:nvPr>
        </p:nvGraphicFramePr>
        <p:xfrm>
          <a:off x="2015782" y="2725440"/>
          <a:ext cx="81686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86849971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331931972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17827810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97431171"/>
                    </a:ext>
                  </a:extLst>
                </a:gridCol>
              </a:tblGrid>
              <a:tr h="396657"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LRU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LFU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FIFO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ALEATORIO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51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97,74%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97,xx%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97,66%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2400">
                          <a:solidFill>
                            <a:schemeClr val="tx1"/>
                          </a:solidFill>
                        </a:rPr>
                        <a:t>97,xx%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4161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2763D2E-5017-7D04-CB09-362B027822FA}"/>
              </a:ext>
            </a:extLst>
          </p:cNvPr>
          <p:cNvSpPr txBox="1"/>
          <p:nvPr/>
        </p:nvSpPr>
        <p:spPr>
          <a:xfrm>
            <a:off x="839033" y="1527093"/>
            <a:ext cx="904899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/>
              <a:t>PARTE 2:</a:t>
            </a:r>
          </a:p>
          <a:p>
            <a:r>
              <a:rPr lang="es-ES" sz="2400"/>
              <a:t>Gana LRU frente al resto de algoritmos, como segundo mejor algoritmo tenemos FIFO.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D335C32-DF59-7853-EF13-82B4B2EA5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22830"/>
            <a:ext cx="11036460" cy="273769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s-ES" sz="4400"/>
              <a:t>PARTE 3:</a:t>
            </a:r>
          </a:p>
          <a:p>
            <a:r>
              <a:rPr lang="es-ES" sz="4400"/>
              <a:t>TASA DE FALLOS CTE debido a patrón de accesos repetitivo y estable.</a:t>
            </a:r>
          </a:p>
          <a:p>
            <a:r>
              <a:rPr lang="es-ES" sz="4400"/>
              <a:t>En el fichero 1 encontramos que Directa da 76,4% de Aciertos y Tot. Asociativa 0% de acierto.</a:t>
            </a:r>
          </a:p>
          <a:p>
            <a:r>
              <a:rPr lang="es-ES" sz="4400"/>
              <a:t>En el fichero 2 LRU gana con un 78,6% de acierto frente al 77,2% de LFU. </a:t>
            </a:r>
          </a:p>
          <a:p>
            <a:r>
              <a:rPr lang="es-ES" sz="4400"/>
              <a:t>En el fichero 3 LFU gana con un 81,4% de aciertos frente al 78,2% de LRU.</a:t>
            </a:r>
          </a:p>
          <a:p>
            <a:endParaRPr lang="es-ES"/>
          </a:p>
          <a:p>
            <a:pPr marL="0" indent="0">
              <a:buNone/>
            </a:pPr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41427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10CB4698736F4AACA709CD961A748B" ma:contentTypeVersion="6" ma:contentTypeDescription="Crear nuevo documento." ma:contentTypeScope="" ma:versionID="0ac7f3d93be9e2780c3b4bc748d97e12">
  <xsd:schema xmlns:xsd="http://www.w3.org/2001/XMLSchema" xmlns:xs="http://www.w3.org/2001/XMLSchema" xmlns:p="http://schemas.microsoft.com/office/2006/metadata/properties" xmlns:ns3="3736bd58-fad9-4f2c-a564-9fbdaa7cffd0" targetNamespace="http://schemas.microsoft.com/office/2006/metadata/properties" ma:root="true" ma:fieldsID="3eb7544659b6550996c92a501fd77e83" ns3:_="">
    <xsd:import namespace="3736bd58-fad9-4f2c-a564-9fbdaa7cff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36bd58-fad9-4f2c-a564-9fbdaa7cff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36bd58-fad9-4f2c-a564-9fbdaa7cffd0" xsi:nil="true"/>
  </documentManagement>
</p:properties>
</file>

<file path=customXml/itemProps1.xml><?xml version="1.0" encoding="utf-8"?>
<ds:datastoreItem xmlns:ds="http://schemas.openxmlformats.org/officeDocument/2006/customXml" ds:itemID="{8D7BFD9D-6C6F-4CBE-AC7C-C8A6ECFC7B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F2D5E-2EDD-40D2-B642-22636DD6778C}">
  <ds:schemaRefs>
    <ds:schemaRef ds:uri="3736bd58-fad9-4f2c-a564-9fbdaa7cff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F762AD-C44F-46E3-8680-2288526EC6E9}">
  <ds:schemaRefs>
    <ds:schemaRef ds:uri="3736bd58-fad9-4f2c-a564-9fbdaa7cff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1145</Words>
  <Application>Microsoft Office PowerPoint</Application>
  <PresentationFormat>Panorámica</PresentationFormat>
  <Paragraphs>271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ESTUDIO DE LA MEMORIA CACHÉ: CORRESPONDENCIA, REEMPLAZO Y TRAZAS</vt:lpstr>
      <vt:lpstr>CONCEPTOS FALLOS</vt:lpstr>
      <vt:lpstr>TIPOS DE FALLOS</vt:lpstr>
      <vt:lpstr>FUNCIONES DE CORRESPONDECIA</vt:lpstr>
      <vt:lpstr>ALGORITMOS DE REEMPLAZO</vt:lpstr>
      <vt:lpstr>ALGORITMOS DE REEMPLAZO</vt:lpstr>
      <vt:lpstr>FICHEROS DE TRAZA</vt:lpstr>
      <vt:lpstr>COMO HEMOS HECHO LOS FICHEROS</vt:lpstr>
      <vt:lpstr>TABLAS TRAZA: FICHERO 1 (Dir, tot.asoc)</vt:lpstr>
      <vt:lpstr>TABLAS TRAZA: FICHERO 2 (LRU Y LFU)</vt:lpstr>
      <vt:lpstr>TABLAS TRAZA: FICHERO 3 (LRU Y LFU)</vt:lpstr>
      <vt:lpstr>RESULTADOS PARTE 1</vt:lpstr>
      <vt:lpstr>RESULTADOS PARTE 2 Y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Mata Muffak</dc:creator>
  <cp:lastModifiedBy>Luis Airam Saavedra Paiseo</cp:lastModifiedBy>
  <cp:revision>8</cp:revision>
  <dcterms:created xsi:type="dcterms:W3CDTF">2026-04-08T06:44:15Z</dcterms:created>
  <dcterms:modified xsi:type="dcterms:W3CDTF">2026-04-15T07:43:39Z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0x0101005B10CB4698736F4AACA709CD961A748B</vt:lpwstr>
  </property>
</Properties>
</file>