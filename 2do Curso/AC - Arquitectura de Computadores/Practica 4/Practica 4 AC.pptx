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1BC6A6-187D-44A4-BD8C-6D63A3922AF1}">
  <a:tblStyle styleId="{3F1BC6A6-187D-44A4-BD8C-6D63A3922A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32e6707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32e6707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32e6707d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32e6707d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32e6707d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32e6707d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32e6707d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32e6707d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32e6707d1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32e6707d1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32e6707d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32e6707d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32e6707d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32e6707d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32e6707d1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32e6707d1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32e6707d1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32e6707d1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32e6707d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32e6707d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32e6707d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32e6707d1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32e6707d1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32e6707d1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32e6707d1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32e6707d1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32e6707d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32e6707d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32e6707d1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32e6707d1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32e6707d1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32e6707d1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32e6707d1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32e6707d1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32e6707d1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32e6707d1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32e6707d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e32e6707d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32e6707d1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32e6707d1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32e6707d1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32e6707d1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32e6707d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32e6707d1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32e6707d1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32e6707d1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PRÁCTICA 4 AC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PROGRAMACIÓN PARA DLX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</a:rPr>
              <a:t>Para i = 0 hasta i = 9, con i = i + 1 A[i] = B * A[i] , siendo B = 2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dk1"/>
                </a:solidFill>
              </a:rPr>
              <a:t>Validación en papel:</a:t>
            </a:r>
            <a:r>
              <a:rPr lang="es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 dirty="0">
                <a:solidFill>
                  <a:schemeClr val="dk1"/>
                </a:solidFill>
              </a:rPr>
              <a:t>Valores iniciales elegidos: A = { 1, 2, 3, 4, 5, 6, 7, 8, 9, 10 }, B = 2</a:t>
            </a:r>
            <a:endParaRPr dirty="0"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 dirty="0">
                <a:solidFill>
                  <a:schemeClr val="dk1"/>
                </a:solidFill>
              </a:rPr>
              <a:t>Resultado esperado: A = { 2, 4, 6, 8, 10, 12, 14, 16, 18, 20 }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dk1"/>
                </a:solidFill>
              </a:rPr>
              <a:t>Organización en memoria:</a:t>
            </a:r>
            <a:r>
              <a:rPr lang="es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 dirty="0">
                <a:solidFill>
                  <a:schemeClr val="dk1"/>
                </a:solidFill>
              </a:rPr>
              <a:t>Array: 10 palabras de 32 bits = 40 bytes en total </a:t>
            </a:r>
            <a:endParaRPr dirty="0"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 dirty="0">
                <a:solidFill>
                  <a:schemeClr val="dk1"/>
                </a:solidFill>
              </a:rPr>
              <a:t>Acceso: dirección base + desplazamiento (×4 bytes por elemento)</a:t>
            </a:r>
            <a:endParaRPr dirty="0"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 dirty="0">
                <a:solidFill>
                  <a:schemeClr val="dk1"/>
                </a:solidFill>
              </a:rPr>
              <a:t>Direccionamiento: registro base + desplazamiento de 16 bits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COMPUTADOR DLX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84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dk1"/>
                </a:solidFill>
              </a:rPr>
              <a:t>Registros:</a:t>
            </a:r>
            <a:r>
              <a:rPr lang="es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De propósito general: R0–R31, 32 bits cada uno, R0 siempre vale 0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De punto flotante: F0–F31, 32 bits</a:t>
            </a:r>
            <a:endParaRPr sz="2300"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4159150" y="1152475"/>
            <a:ext cx="48219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dk1"/>
                </a:solidFill>
              </a:rPr>
              <a:t>Las 5 etapas del pipeline:</a:t>
            </a:r>
            <a:r>
              <a:rPr lang="es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IF: Búsqueda de instrucción (accede a memoria)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ID: Decodificación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EX: Ejecución / cálculo de dirección efectiva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MEM: Acceso a memoria de datos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WB: Post-escritura del resultado en registro destino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IF y MEM acceden a memoria en el mismo ciclo: dos cachés separadas (instrucciones y datos)</a:t>
            </a:r>
            <a:endParaRPr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RIESGOS DEL PIPELINE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0" y="1017725"/>
            <a:ext cx="3246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dk1"/>
                </a:solidFill>
              </a:rPr>
              <a:t>Riesgos estructurales:</a:t>
            </a:r>
            <a:r>
              <a:rPr lang="es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Causa: el hardware no puede atender todas las peticiones simultáneas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Ej: caché unificada: IF y MEM en el mismo ciclo y no pueden acceder a la vez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Solución: dos cachés separadas (instrucciones + datos)</a:t>
            </a:r>
            <a:endParaRPr sz="230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344187" y="1016314"/>
            <a:ext cx="2409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dk1"/>
                </a:solidFill>
              </a:rPr>
              <a:t>Riesgos de control:</a:t>
            </a:r>
            <a:r>
              <a:rPr lang="es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Causa: instrucciones de salto o bifurcación cambian el PC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Solución: congelar pipeline, predecir no-efectivo, salto retardado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5851074" y="1016314"/>
            <a:ext cx="3246600" cy="3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dk1"/>
                </a:solidFill>
              </a:rPr>
              <a:t>Riesgos de datos:</a:t>
            </a:r>
            <a:r>
              <a:rPr lang="es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RAW (Read After Write): j lee un registro antes de que i lo escriba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WAR (Write After Read): no ocurre en DLX básico (lecturas en ID, escrituras en WB)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WAW (Write After Write): solo en multiciclo FP con distintas latencias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RAR (Read After Read): NO es riesgo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ADELANTAMIENTO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 dirty="0">
                <a:solidFill>
                  <a:schemeClr val="dk1"/>
                </a:solidFill>
              </a:rPr>
              <a:t>Técnica hardware que pasa el resultado de la ALU/MEM directamente a la entrada de la instrucción siguiente sin esperar a que WB lo escriba en el banco de registros.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12375" y="1800225"/>
            <a:ext cx="3458700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dk1"/>
                </a:solidFill>
              </a:rPr>
              <a:t>Cuándo funciona (0 detenciones):</a:t>
            </a:r>
            <a:r>
              <a:rPr lang="es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ALU → ALU inmediatamente siguiente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 sz="1600" dirty="0">
                <a:solidFill>
                  <a:schemeClr val="dk1"/>
                </a:solidFill>
              </a:rPr>
              <a:t>El resultado se pasa desde ALUoutput (instrucción en MEM) o ALUoutput1 (instrucción en WB)</a:t>
            </a:r>
            <a:r>
              <a:rPr lang="es" dirty="0">
                <a:solidFill>
                  <a:schemeClr val="dk1"/>
                </a:solidFill>
              </a:rPr>
              <a:t> </a:t>
            </a:r>
          </a:p>
          <a:p>
            <a:pPr marL="457200" lvl="0" indent="-317500">
              <a:buClr>
                <a:schemeClr val="dk1"/>
              </a:buClr>
              <a:buSzPts val="1400"/>
              <a:buChar char="-"/>
            </a:pPr>
            <a:r>
              <a:rPr lang="es" sz="1600" dirty="0">
                <a:solidFill>
                  <a:schemeClr val="dk1"/>
                </a:solidFill>
              </a:rPr>
              <a:t>MEM → ALU</a:t>
            </a:r>
            <a:endParaRPr sz="1600" dirty="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092625" y="1811300"/>
            <a:ext cx="4223400" cy="1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</a:rPr>
              <a:t>Cuándo NO elimina la detención:</a:t>
            </a:r>
            <a:r>
              <a:rPr lang="es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>
                <a:solidFill>
                  <a:schemeClr val="dk1"/>
                </a:solidFill>
              </a:rPr>
              <a:t>LW escribe el dato al final de MEM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>
                <a:solidFill>
                  <a:schemeClr val="dk1"/>
                </a:solidFill>
              </a:rPr>
              <a:t>La instrucción siguiente necesita el dato al inicio de EX: mismo ciclo, imposible adelantar </a:t>
            </a:r>
            <a:endParaRPr sz="2300">
              <a:solidFill>
                <a:schemeClr val="dk2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12375" y="3961825"/>
            <a:ext cx="7903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</a:rPr>
              <a:t>Adelantamiento generalizado:</a:t>
            </a:r>
            <a:r>
              <a:rPr lang="es" sz="1600">
                <a:solidFill>
                  <a:schemeClr val="dk1"/>
                </a:solidFill>
              </a:rPr>
              <a:t> El resultado de la ALU puede pasarse directamente al registro interno de escritura en memoria para un almacenamiento inmediatamente posterior, sin necesidad de detención.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TÉCNICAS OPTIMIZACIÓN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523875" y="1143000"/>
            <a:ext cx="39579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</a:rPr>
              <a:t>Planificación de instrucciones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</a:rPr>
              <a:t>Reordenar instrucciones sin cambiar la semántica. Mueve instrucciones a los huecos de detención. No aumenta el tamaño del código.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4874400" y="2726200"/>
            <a:ext cx="39579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NOP de relleno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s" sz="1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Insertar instrucciones vacías en los huecos. Es la técnica más básica de gestión de riesgos.</a:t>
            </a:r>
            <a:endParaRPr sz="16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523875" y="2726200"/>
            <a:ext cx="39579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Desenrollado de bucles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s" sz="1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Replicar el cuerpo del bucle N veces. </a:t>
            </a:r>
            <a:r>
              <a:rPr lang="es" sz="1600">
                <a:solidFill>
                  <a:schemeClr val="dk1"/>
                </a:solidFill>
              </a:rPr>
              <a:t>Reduce saltos</a:t>
            </a:r>
            <a:r>
              <a:rPr lang="es" sz="1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crea bloques lineales más largos para mejor planificación.</a:t>
            </a:r>
            <a:endParaRPr sz="16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4874400" y="1143000"/>
            <a:ext cx="39579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Segmentación software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s" sz="1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Intercalar instrucciones de iteraciones distintas. Efecto similar al desenrollado sin aumentar código. Requiere código de arranque/fin.</a:t>
            </a:r>
            <a:endParaRPr sz="16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571500" y="4000500"/>
            <a:ext cx="8260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dk1"/>
                </a:solidFill>
              </a:rPr>
              <a:t>Salto retardado (Delayed Branch)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chemeClr val="dk1"/>
                </a:solidFill>
              </a:rPr>
              <a:t>Ejecutar instrucción útil en el hueco tras el salto. Reduce la penalización de control sin coste de ciclos si se llena el hueco.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VERSIÓN 1: INT SIN OPTIMIZAR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</a:rPr>
              <a:t>Dependencias: 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>
                <a:solidFill>
                  <a:schemeClr val="dk1"/>
                </a:solidFill>
              </a:rPr>
              <a:t>LW R5→  LW R1, A(R5): RAW, 2 ciclos de detención sin adelantamiento, 1 ciclos con adelantamiento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>
                <a:solidFill>
                  <a:schemeClr val="dk1"/>
                </a:solidFill>
              </a:rPr>
              <a:t>LW R6 → ADD R6: RAW,  2 ciclos de detención sin adelantamiento, 1 ciclo con adelantamiento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>
                <a:solidFill>
                  <a:schemeClr val="dk1"/>
                </a:solidFill>
              </a:rPr>
              <a:t>ADD R6 → SW A(R5), R6: RAW, 2 ciclos sin adelantamiento, 0 ciclos con adelantamiento (resultado pasa directo al registro interno de escritura)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>
                <a:solidFill>
                  <a:schemeClr val="dk1"/>
                </a:solidFill>
              </a:rPr>
              <a:t>BNEZ R2: riesgo de control, 1 ciclo sin adelantamiento, 1 ciclo con adelantamiento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ENTEROS SIN OPTIMIZAR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t="7141"/>
          <a:stretch/>
        </p:blipFill>
        <p:spPr>
          <a:xfrm>
            <a:off x="311700" y="925725"/>
            <a:ext cx="5573200" cy="376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 rotWithShape="1">
          <a:blip r:embed="rId4">
            <a:alphaModFix/>
          </a:blip>
          <a:srcRect l="4167" r="46571"/>
          <a:stretch/>
        </p:blipFill>
        <p:spPr>
          <a:xfrm>
            <a:off x="5884900" y="925725"/>
            <a:ext cx="2857526" cy="9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ENTEROS SIN OPTIMIZAR NI ADELANTAMIENTOS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98184"/>
            <a:ext cx="9144000" cy="202551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/>
          <p:nvPr/>
        </p:nvSpPr>
        <p:spPr>
          <a:xfrm>
            <a:off x="2735525" y="3060725"/>
            <a:ext cx="749700" cy="2136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16" name="Google Shape;116;p21"/>
          <p:cNvSpPr/>
          <p:nvPr/>
        </p:nvSpPr>
        <p:spPr>
          <a:xfrm>
            <a:off x="186825" y="2893375"/>
            <a:ext cx="207600" cy="213600"/>
          </a:xfrm>
          <a:prstGeom prst="flowChartConnector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394425" y="3060725"/>
            <a:ext cx="389100" cy="175200"/>
          </a:xfrm>
          <a:prstGeom prst="flowChartConnector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21"/>
          <p:cNvCxnSpPr/>
          <p:nvPr/>
        </p:nvCxnSpPr>
        <p:spPr>
          <a:xfrm flipH="1">
            <a:off x="3379800" y="2631175"/>
            <a:ext cx="219000" cy="475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9" name="Google Shape;119;p21"/>
          <p:cNvSpPr txBox="1"/>
          <p:nvPr/>
        </p:nvSpPr>
        <p:spPr>
          <a:xfrm>
            <a:off x="3379800" y="2353000"/>
            <a:ext cx="3334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FF0000"/>
                </a:solidFill>
              </a:rPr>
              <a:t>Det1: Detención por riesgo de datos tipo RAW (R5)</a:t>
            </a:r>
            <a:endParaRPr sz="1000" b="1">
              <a:solidFill>
                <a:srgbClr val="FF0000"/>
              </a:solidFill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4087325" y="3339975"/>
            <a:ext cx="749700" cy="213600"/>
          </a:xfrm>
          <a:prstGeom prst="ellipse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21" name="Google Shape;121;p21"/>
          <p:cNvSpPr/>
          <p:nvPr/>
        </p:nvSpPr>
        <p:spPr>
          <a:xfrm>
            <a:off x="186825" y="3172525"/>
            <a:ext cx="207600" cy="213600"/>
          </a:xfrm>
          <a:prstGeom prst="flowChartConnector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2" name="Google Shape;122;p21"/>
          <p:cNvCxnSpPr/>
          <p:nvPr/>
        </p:nvCxnSpPr>
        <p:spPr>
          <a:xfrm flipH="1">
            <a:off x="4720075" y="2929625"/>
            <a:ext cx="219000" cy="4758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3" name="Google Shape;123;p21"/>
          <p:cNvSpPr txBox="1"/>
          <p:nvPr/>
        </p:nvSpPr>
        <p:spPr>
          <a:xfrm>
            <a:off x="4837025" y="2631175"/>
            <a:ext cx="3334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FF00FF"/>
                </a:solidFill>
              </a:rPr>
              <a:t>Det2: Detención por riesgo de datos tipo RAW (R6)</a:t>
            </a:r>
            <a:endParaRPr sz="1000" b="1">
              <a:solidFill>
                <a:srgbClr val="FF00FF"/>
              </a:solidFill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473125" y="3339975"/>
            <a:ext cx="421800" cy="196200"/>
          </a:xfrm>
          <a:prstGeom prst="ellipse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265525" y="3331275"/>
            <a:ext cx="207600" cy="213600"/>
          </a:xfrm>
          <a:prstGeom prst="flowChartConnector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551825" y="3480825"/>
            <a:ext cx="231700" cy="213600"/>
          </a:xfrm>
          <a:prstGeom prst="ellipse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5054000" y="3501825"/>
            <a:ext cx="818400" cy="175200"/>
          </a:xfrm>
          <a:prstGeom prst="ellipse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8" name="Google Shape;128;p21"/>
          <p:cNvCxnSpPr>
            <a:endCxn id="127" idx="7"/>
          </p:cNvCxnSpPr>
          <p:nvPr/>
        </p:nvCxnSpPr>
        <p:spPr>
          <a:xfrm flipH="1">
            <a:off x="5752548" y="3245182"/>
            <a:ext cx="131400" cy="282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" name="Google Shape;129;p21"/>
          <p:cNvSpPr txBox="1"/>
          <p:nvPr/>
        </p:nvSpPr>
        <p:spPr>
          <a:xfrm>
            <a:off x="5587675" y="2967007"/>
            <a:ext cx="33345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FF9900"/>
                </a:solidFill>
              </a:rPr>
              <a:t>Det3: Detención por riesgo de datos tipo RAW (R6)</a:t>
            </a:r>
            <a:endParaRPr dirty="0">
              <a:solidFill>
                <a:srgbClr val="FF9900"/>
              </a:solidFill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-27375" y="3927200"/>
            <a:ext cx="922200" cy="213600"/>
          </a:xfrm>
          <a:prstGeom prst="ellipse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6657725" y="3944600"/>
            <a:ext cx="818400" cy="196200"/>
          </a:xfrm>
          <a:prstGeom prst="ellipse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" name="Google Shape;132;p21"/>
          <p:cNvCxnSpPr>
            <a:endCxn id="131" idx="7"/>
          </p:cNvCxnSpPr>
          <p:nvPr/>
        </p:nvCxnSpPr>
        <p:spPr>
          <a:xfrm flipH="1">
            <a:off x="7356273" y="3579733"/>
            <a:ext cx="199800" cy="393600"/>
          </a:xfrm>
          <a:prstGeom prst="straightConnector1">
            <a:avLst/>
          </a:prstGeom>
          <a:noFill/>
          <a:ln w="19050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" name="Google Shape;133;p21"/>
          <p:cNvSpPr txBox="1"/>
          <p:nvPr/>
        </p:nvSpPr>
        <p:spPr>
          <a:xfrm>
            <a:off x="7041525" y="3140100"/>
            <a:ext cx="203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FF00"/>
                </a:solidFill>
              </a:rPr>
              <a:t>Det4: Detención por riesgo de control (BNEZ R2)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DIAGRAMA ENTEROS SIN OPTIMIZAR CON ADELANTAMIENTOS</a:t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86537"/>
            <a:ext cx="9144000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/>
          <p:nvPr/>
        </p:nvSpPr>
        <p:spPr>
          <a:xfrm>
            <a:off x="244500" y="2893375"/>
            <a:ext cx="207600" cy="2136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468550" y="3106975"/>
            <a:ext cx="456300" cy="1638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3812975" y="3106975"/>
            <a:ext cx="456300" cy="213600"/>
          </a:xfrm>
          <a:prstGeom prst="flowChartConnector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" name="Google Shape;143;p22"/>
          <p:cNvCxnSpPr>
            <a:endCxn id="142" idx="7"/>
          </p:cNvCxnSpPr>
          <p:nvPr/>
        </p:nvCxnSpPr>
        <p:spPr>
          <a:xfrm flipH="1">
            <a:off x="4202451" y="2726356"/>
            <a:ext cx="182100" cy="41190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4" name="Google Shape;144;p22"/>
          <p:cNvSpPr txBox="1"/>
          <p:nvPr/>
        </p:nvSpPr>
        <p:spPr>
          <a:xfrm>
            <a:off x="4269275" y="2387100"/>
            <a:ext cx="485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9900FF"/>
                </a:solidFill>
              </a:rPr>
              <a:t>Det1: Detención por riesgo de datos tipo RAW (R5)</a:t>
            </a:r>
            <a:endParaRPr sz="1000" b="1">
              <a:solidFill>
                <a:srgbClr val="9900FF"/>
              </a:solidFill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244500" y="3253350"/>
            <a:ext cx="207600" cy="213600"/>
          </a:xfrm>
          <a:prstGeom prst="flowChartConnector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574794" y="3409832"/>
            <a:ext cx="456300" cy="213600"/>
          </a:xfrm>
          <a:prstGeom prst="flowChartConnector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5061025" y="3434500"/>
            <a:ext cx="407700" cy="163800"/>
          </a:xfrm>
          <a:prstGeom prst="flowChartConnector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8" name="Google Shape;148;p22"/>
          <p:cNvCxnSpPr>
            <a:endCxn id="147" idx="1"/>
          </p:cNvCxnSpPr>
          <p:nvPr/>
        </p:nvCxnSpPr>
        <p:spPr>
          <a:xfrm>
            <a:off x="4938331" y="2760988"/>
            <a:ext cx="182400" cy="697500"/>
          </a:xfrm>
          <a:prstGeom prst="straightConnector1">
            <a:avLst/>
          </a:prstGeom>
          <a:noFill/>
          <a:ln w="19050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9" name="Google Shape;149;p22"/>
          <p:cNvSpPr txBox="1"/>
          <p:nvPr/>
        </p:nvSpPr>
        <p:spPr>
          <a:xfrm>
            <a:off x="4421675" y="2539500"/>
            <a:ext cx="485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FF00"/>
                </a:solidFill>
              </a:rPr>
              <a:t>Det2: Detención por riesgo de datos tipo WAW (R6), no genera riesgo real</a:t>
            </a:r>
            <a:endParaRPr sz="1000" b="1">
              <a:solidFill>
                <a:srgbClr val="00FF00"/>
              </a:solidFill>
            </a:endParaRPr>
          </a:p>
        </p:txBody>
      </p:sp>
      <p:cxnSp>
        <p:nvCxnSpPr>
          <p:cNvPr id="150" name="Google Shape;150;p22"/>
          <p:cNvCxnSpPr/>
          <p:nvPr/>
        </p:nvCxnSpPr>
        <p:spPr>
          <a:xfrm>
            <a:off x="5468725" y="3372100"/>
            <a:ext cx="184500" cy="1038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" name="Google Shape;151;p22"/>
          <p:cNvSpPr txBox="1"/>
          <p:nvPr/>
        </p:nvSpPr>
        <p:spPr>
          <a:xfrm>
            <a:off x="5300700" y="2830825"/>
            <a:ext cx="329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FF00FF"/>
                </a:solidFill>
              </a:rPr>
              <a:t>Adelantamiento 1: Salida MEM - Entrada ALU (R6)</a:t>
            </a:r>
            <a:endParaRPr sz="1000" dirty="0">
              <a:solidFill>
                <a:srgbClr val="FF00FF"/>
              </a:solidFill>
            </a:endParaRPr>
          </a:p>
        </p:txBody>
      </p:sp>
      <p:cxnSp>
        <p:nvCxnSpPr>
          <p:cNvPr id="152" name="Google Shape;152;p22"/>
          <p:cNvCxnSpPr/>
          <p:nvPr/>
        </p:nvCxnSpPr>
        <p:spPr>
          <a:xfrm>
            <a:off x="5774350" y="3515048"/>
            <a:ext cx="196200" cy="1155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" name="Google Shape;153;p22"/>
          <p:cNvSpPr txBox="1"/>
          <p:nvPr/>
        </p:nvSpPr>
        <p:spPr>
          <a:xfrm>
            <a:off x="5872450" y="3147244"/>
            <a:ext cx="3249625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0000FF"/>
                </a:solidFill>
              </a:rPr>
              <a:t>Adelantamiento 2: Salida ALU - Entrada ALU (R6)</a:t>
            </a:r>
            <a:endParaRPr sz="1000" dirty="0">
              <a:solidFill>
                <a:srgbClr val="0000FF"/>
              </a:solidFill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6721650" y="4078175"/>
            <a:ext cx="456300" cy="213600"/>
          </a:xfrm>
          <a:prstGeom prst="flowChartConnector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0" y="4078175"/>
            <a:ext cx="1005600" cy="213600"/>
          </a:xfrm>
          <a:prstGeom prst="flowChartConnector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6" name="Google Shape;156;p22"/>
          <p:cNvCxnSpPr>
            <a:endCxn id="154" idx="7"/>
          </p:cNvCxnSpPr>
          <p:nvPr/>
        </p:nvCxnSpPr>
        <p:spPr>
          <a:xfrm flipH="1">
            <a:off x="7111126" y="3764156"/>
            <a:ext cx="813900" cy="345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" name="Google Shape;157;p22"/>
          <p:cNvSpPr txBox="1"/>
          <p:nvPr/>
        </p:nvSpPr>
        <p:spPr>
          <a:xfrm>
            <a:off x="7256400" y="3382050"/>
            <a:ext cx="188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FF9900"/>
                </a:solidFill>
              </a:rPr>
              <a:t>Det3: Detención por riesgo de control (BNEZ R2)</a:t>
            </a:r>
            <a:endParaRPr sz="10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VERSIÓN 2: INT OPTIMIZADO</a:t>
            </a:r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b="1" dirty="0">
                <a:solidFill>
                  <a:schemeClr val="dk1"/>
                </a:solidFill>
              </a:rPr>
              <a:t>Técnica aplicada:</a:t>
            </a:r>
            <a:r>
              <a:rPr lang="es" sz="1600" dirty="0">
                <a:solidFill>
                  <a:schemeClr val="dk1"/>
                </a:solidFill>
              </a:rPr>
              <a:t> Planificación de traza (quitamos) y desenrollado de bucle</a:t>
            </a:r>
            <a:endParaRPr sz="1600" dirty="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Mover instrucciones independientes</a:t>
            </a: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Quitamos el decremento del contador de iteraciones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ENTEROS OPTIMIZADO</a:t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3">
            <a:alphaModFix/>
          </a:blip>
          <a:srcRect t="6428"/>
          <a:stretch/>
        </p:blipFill>
        <p:spPr>
          <a:xfrm>
            <a:off x="0" y="1017725"/>
            <a:ext cx="5644701" cy="34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0574" y="1017725"/>
            <a:ext cx="4323425" cy="1605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ENTEROS OPTIMIZADO SIN ADELANTAMIENTOS</a:t>
            </a:r>
            <a:endParaRPr/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19302"/>
            <a:ext cx="9144001" cy="154657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/>
          <p:nvPr/>
        </p:nvSpPr>
        <p:spPr>
          <a:xfrm>
            <a:off x="311700" y="2464950"/>
            <a:ext cx="278700" cy="2136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5"/>
          <p:cNvSpPr/>
          <p:nvPr/>
        </p:nvSpPr>
        <p:spPr>
          <a:xfrm>
            <a:off x="752425" y="2678550"/>
            <a:ext cx="278700" cy="2136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5"/>
          <p:cNvSpPr/>
          <p:nvPr/>
        </p:nvSpPr>
        <p:spPr>
          <a:xfrm>
            <a:off x="2865350" y="2678550"/>
            <a:ext cx="988800" cy="213600"/>
          </a:xfrm>
          <a:prstGeom prst="flowChartConnector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0" name="Google Shape;180;p25"/>
          <p:cNvCxnSpPr>
            <a:endCxn id="179" idx="7"/>
          </p:cNvCxnSpPr>
          <p:nvPr/>
        </p:nvCxnSpPr>
        <p:spPr>
          <a:xfrm flipH="1">
            <a:off x="3709344" y="2645631"/>
            <a:ext cx="894300" cy="6420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1" name="Google Shape;181;p25"/>
          <p:cNvSpPr txBox="1"/>
          <p:nvPr/>
        </p:nvSpPr>
        <p:spPr>
          <a:xfrm>
            <a:off x="4269275" y="2387100"/>
            <a:ext cx="485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9900FF"/>
                </a:solidFill>
              </a:rPr>
              <a:t>Det1: Detención por riesgo de datos tipo RAW (R5)</a:t>
            </a:r>
            <a:endParaRPr sz="1000" b="1">
              <a:solidFill>
                <a:srgbClr val="9900FF"/>
              </a:solidFill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311700" y="2725800"/>
            <a:ext cx="278700" cy="213600"/>
          </a:xfrm>
          <a:prstGeom prst="flowChartConnector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642050" y="2892150"/>
            <a:ext cx="501900" cy="213600"/>
          </a:xfrm>
          <a:prstGeom prst="flowChartConnector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4205600" y="2892150"/>
            <a:ext cx="988800" cy="213600"/>
          </a:xfrm>
          <a:prstGeom prst="flowChartConnector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" name="Google Shape;185;p25"/>
          <p:cNvCxnSpPr>
            <a:endCxn id="184" idx="7"/>
          </p:cNvCxnSpPr>
          <p:nvPr/>
        </p:nvCxnSpPr>
        <p:spPr>
          <a:xfrm flipH="1">
            <a:off x="5049594" y="2853231"/>
            <a:ext cx="741900" cy="70200"/>
          </a:xfrm>
          <a:prstGeom prst="straightConnector1">
            <a:avLst/>
          </a:prstGeom>
          <a:noFill/>
          <a:ln w="19050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6" name="Google Shape;186;p25"/>
          <p:cNvSpPr txBox="1"/>
          <p:nvPr/>
        </p:nvSpPr>
        <p:spPr>
          <a:xfrm>
            <a:off x="5688375" y="2616000"/>
            <a:ext cx="485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FF00"/>
                </a:solidFill>
              </a:rPr>
              <a:t>Det2: Detención por riesgo de datos tipo RAW (R6)</a:t>
            </a:r>
            <a:endParaRPr sz="1000" b="1">
              <a:solidFill>
                <a:srgbClr val="00FF00"/>
              </a:solidFill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417975" y="2892150"/>
            <a:ext cx="278700" cy="213600"/>
          </a:xfrm>
          <a:prstGeom prst="flowChartConnector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5"/>
          <p:cNvSpPr/>
          <p:nvPr/>
        </p:nvSpPr>
        <p:spPr>
          <a:xfrm>
            <a:off x="812550" y="3105750"/>
            <a:ext cx="278700" cy="213600"/>
          </a:xfrm>
          <a:prstGeom prst="flowChartConnector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5"/>
          <p:cNvSpPr/>
          <p:nvPr/>
        </p:nvSpPr>
        <p:spPr>
          <a:xfrm>
            <a:off x="5568900" y="3050700"/>
            <a:ext cx="988800" cy="213600"/>
          </a:xfrm>
          <a:prstGeom prst="flowChartConnector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0" name="Google Shape;190;p25"/>
          <p:cNvCxnSpPr>
            <a:endCxn id="189" idx="2"/>
          </p:cNvCxnSpPr>
          <p:nvPr/>
        </p:nvCxnSpPr>
        <p:spPr>
          <a:xfrm rot="10800000" flipH="1">
            <a:off x="4661400" y="3157500"/>
            <a:ext cx="907500" cy="5376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1" name="Google Shape;191;p25"/>
          <p:cNvSpPr txBox="1"/>
          <p:nvPr/>
        </p:nvSpPr>
        <p:spPr>
          <a:xfrm>
            <a:off x="3072975" y="3746700"/>
            <a:ext cx="485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FF9900"/>
                </a:solidFill>
              </a:rPr>
              <a:t>Det3: Detención por riesgo de datos tipo RAW (R6)</a:t>
            </a:r>
            <a:endParaRPr sz="10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ENTEROS OPTIMIZADO CON ADELANTAMIENTOS</a:t>
            </a:r>
            <a:endParaRPr/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5950"/>
            <a:ext cx="9144000" cy="207952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/>
          <p:nvPr/>
        </p:nvSpPr>
        <p:spPr>
          <a:xfrm>
            <a:off x="392450" y="2645550"/>
            <a:ext cx="336300" cy="2061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936950" y="2851650"/>
            <a:ext cx="449100" cy="2676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6"/>
          <p:cNvSpPr/>
          <p:nvPr/>
        </p:nvSpPr>
        <p:spPr>
          <a:xfrm>
            <a:off x="4293300" y="2886175"/>
            <a:ext cx="679500" cy="206100"/>
          </a:xfrm>
          <a:prstGeom prst="flowChartConnector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1" name="Google Shape;201;p26"/>
          <p:cNvCxnSpPr>
            <a:endCxn id="200" idx="7"/>
          </p:cNvCxnSpPr>
          <p:nvPr/>
        </p:nvCxnSpPr>
        <p:spPr>
          <a:xfrm flipH="1">
            <a:off x="4873290" y="2737858"/>
            <a:ext cx="1022100" cy="17850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2" name="Google Shape;202;p26"/>
          <p:cNvSpPr txBox="1"/>
          <p:nvPr/>
        </p:nvSpPr>
        <p:spPr>
          <a:xfrm>
            <a:off x="5818975" y="2512950"/>
            <a:ext cx="485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9900FF"/>
                </a:solidFill>
              </a:rPr>
              <a:t>Det1: Detención por riesgo de datos tipo RAW (R5)</a:t>
            </a:r>
            <a:endParaRPr sz="1000" b="1">
              <a:solidFill>
                <a:srgbClr val="9900FF"/>
              </a:solidFill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336050" y="2855425"/>
            <a:ext cx="449100" cy="267600"/>
          </a:xfrm>
          <a:prstGeom prst="flowChartConnector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6"/>
          <p:cNvSpPr/>
          <p:nvPr/>
        </p:nvSpPr>
        <p:spPr>
          <a:xfrm>
            <a:off x="785150" y="3153775"/>
            <a:ext cx="679500" cy="206100"/>
          </a:xfrm>
          <a:prstGeom prst="flowChartConnector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5" name="Google Shape;205;p26"/>
          <p:cNvCxnSpPr/>
          <p:nvPr/>
        </p:nvCxnSpPr>
        <p:spPr>
          <a:xfrm rot="10800000" flipH="1">
            <a:off x="4315475" y="3326200"/>
            <a:ext cx="1303200" cy="7494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6" name="Google Shape;206;p26"/>
          <p:cNvSpPr/>
          <p:nvPr/>
        </p:nvSpPr>
        <p:spPr>
          <a:xfrm>
            <a:off x="5423700" y="3153775"/>
            <a:ext cx="679500" cy="206100"/>
          </a:xfrm>
          <a:prstGeom prst="flowChartConnector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6"/>
          <p:cNvSpPr txBox="1"/>
          <p:nvPr/>
        </p:nvSpPr>
        <p:spPr>
          <a:xfrm>
            <a:off x="2540675" y="4075600"/>
            <a:ext cx="2432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FF00FF"/>
                </a:solidFill>
              </a:rPr>
              <a:t>Det2: Detención por riesgo de datos tipo WAW (R6) no genera riesgo real</a:t>
            </a:r>
            <a:endParaRPr sz="1000" b="1">
              <a:solidFill>
                <a:srgbClr val="FF00FF"/>
              </a:solidFill>
            </a:endParaRPr>
          </a:p>
        </p:txBody>
      </p:sp>
      <p:cxnSp>
        <p:nvCxnSpPr>
          <p:cNvPr id="208" name="Google Shape;208;p26"/>
          <p:cNvCxnSpPr/>
          <p:nvPr/>
        </p:nvCxnSpPr>
        <p:spPr>
          <a:xfrm>
            <a:off x="4880550" y="2714750"/>
            <a:ext cx="306600" cy="2301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9" name="Google Shape;209;p26"/>
          <p:cNvSpPr txBox="1"/>
          <p:nvPr/>
        </p:nvSpPr>
        <p:spPr>
          <a:xfrm>
            <a:off x="4873300" y="2233050"/>
            <a:ext cx="485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00FF"/>
                </a:solidFill>
              </a:rPr>
              <a:t>Adelantamiento 1: Salida MEM - Entrada ALU (R5)</a:t>
            </a:r>
            <a:endParaRPr sz="1000" b="1">
              <a:solidFill>
                <a:srgbClr val="0000FF"/>
              </a:solidFill>
            </a:endParaRPr>
          </a:p>
        </p:txBody>
      </p:sp>
      <p:cxnSp>
        <p:nvCxnSpPr>
          <p:cNvPr id="210" name="Google Shape;210;p26"/>
          <p:cNvCxnSpPr/>
          <p:nvPr/>
        </p:nvCxnSpPr>
        <p:spPr>
          <a:xfrm>
            <a:off x="6001650" y="3014025"/>
            <a:ext cx="306600" cy="230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1" name="Google Shape;211;p26"/>
          <p:cNvSpPr txBox="1"/>
          <p:nvPr/>
        </p:nvSpPr>
        <p:spPr>
          <a:xfrm>
            <a:off x="6602550" y="2739150"/>
            <a:ext cx="2665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FF9900"/>
                </a:solidFill>
              </a:rPr>
              <a:t>Adelantamiento 2: Salida MEM - Entrada ALU (R6)</a:t>
            </a:r>
            <a:endParaRPr sz="1000" b="1" dirty="0">
              <a:solidFill>
                <a:srgbClr val="FF9900"/>
              </a:solidFill>
            </a:endParaRPr>
          </a:p>
        </p:txBody>
      </p:sp>
      <p:cxnSp>
        <p:nvCxnSpPr>
          <p:cNvPr id="212" name="Google Shape;212;p26"/>
          <p:cNvCxnSpPr/>
          <p:nvPr/>
        </p:nvCxnSpPr>
        <p:spPr>
          <a:xfrm>
            <a:off x="6523100" y="3244125"/>
            <a:ext cx="306600" cy="230100"/>
          </a:xfrm>
          <a:prstGeom prst="straightConnector1">
            <a:avLst/>
          </a:prstGeom>
          <a:noFill/>
          <a:ln w="19050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3" name="Google Shape;213;p26"/>
          <p:cNvSpPr txBox="1"/>
          <p:nvPr/>
        </p:nvSpPr>
        <p:spPr>
          <a:xfrm>
            <a:off x="6308250" y="3866700"/>
            <a:ext cx="2665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FF00"/>
                </a:solidFill>
              </a:rPr>
              <a:t>Adelantamiento 3: Salida ALU- Entrada ALU (R6)</a:t>
            </a:r>
            <a:endParaRPr sz="1000" b="1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VERSION 3: FLOAT SIN OPTIMIZAR</a:t>
            </a:r>
            <a:endParaRPr/>
          </a:p>
        </p:txBody>
      </p:sp>
      <p:sp>
        <p:nvSpPr>
          <p:cNvPr id="219" name="Google Shape;219;p27"/>
          <p:cNvSpPr txBox="1"/>
          <p:nvPr/>
        </p:nvSpPr>
        <p:spPr>
          <a:xfrm>
            <a:off x="583125" y="1363700"/>
            <a:ext cx="7881300" cy="2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 dirty="0">
                <a:solidFill>
                  <a:schemeClr val="dk1"/>
                </a:solidFill>
              </a:rPr>
              <a:t>Dependencias: 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 sz="1800" dirty="0">
                <a:solidFill>
                  <a:schemeClr val="dk1"/>
                </a:solidFill>
              </a:rPr>
              <a:t>LW R5→ LF F1, A(R5): RAW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 sz="1800" dirty="0">
                <a:solidFill>
                  <a:schemeClr val="dk1"/>
                </a:solidFill>
              </a:rPr>
              <a:t>LF F6 → ADDF F6, F6, F6: RAW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 sz="1800" dirty="0">
                <a:solidFill>
                  <a:schemeClr val="dk1"/>
                </a:solidFill>
              </a:rPr>
              <a:t>ADDF F6 → SF A(R5),F6: RAW, ADDF tarda varios ciclos en EX antes de producir el resultado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 sz="1800" dirty="0">
                <a:solidFill>
                  <a:schemeClr val="dk1"/>
                </a:solidFill>
              </a:rPr>
              <a:t>BNEZ R2: riesgo de control · misma penalización que en enteros  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FLOAT SIN OPTIMIZAR</a:t>
            </a:r>
            <a:endParaRPr/>
          </a:p>
        </p:txBody>
      </p:sp>
      <p:pic>
        <p:nvPicPr>
          <p:cNvPr id="225" name="Google Shape;22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150" y="1017725"/>
            <a:ext cx="5575163" cy="397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8"/>
          <p:cNvPicPr preferRelativeResize="0"/>
          <p:nvPr/>
        </p:nvPicPr>
        <p:blipFill rotWithShape="1">
          <a:blip r:embed="rId4">
            <a:alphaModFix/>
          </a:blip>
          <a:srcRect l="7697" r="9095"/>
          <a:stretch/>
        </p:blipFill>
        <p:spPr>
          <a:xfrm>
            <a:off x="6051225" y="1017725"/>
            <a:ext cx="2781075" cy="7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FLOAT SIN OPTIMIZAR</a:t>
            </a:r>
            <a:endParaRPr/>
          </a:p>
        </p:txBody>
      </p:sp>
      <p:sp>
        <p:nvSpPr>
          <p:cNvPr id="232" name="Google Shape;232;p29"/>
          <p:cNvSpPr txBox="1"/>
          <p:nvPr/>
        </p:nvSpPr>
        <p:spPr>
          <a:xfrm>
            <a:off x="505900" y="1017725"/>
            <a:ext cx="79104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</a:rPr>
              <a:t>Cambios respecto a la versión entera:</a:t>
            </a:r>
            <a:r>
              <a:rPr lang="es" sz="1600">
                <a:solidFill>
                  <a:schemeClr val="dk1"/>
                </a:solidFill>
              </a:rPr>
              <a:t> .word → .float LW / SW → LF / SF MULT → MULTF Registros R → registros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677875" y="1755725"/>
            <a:ext cx="2246700" cy="21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 dirty="0"/>
              <a:t>Latencias multiciclo (Ciclos en EX):</a:t>
            </a:r>
            <a:endParaRPr sz="1600" b="1" dirty="0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s" sz="1600" dirty="0"/>
              <a:t>ADDF: 4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 dirty="0"/>
              <a:t>SUBF: 4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 dirty="0"/>
              <a:t>MULTF: 7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 dirty="0"/>
              <a:t>DIVF: 25</a:t>
            </a:r>
            <a:endParaRPr sz="1600" dirty="0"/>
          </a:p>
        </p:txBody>
      </p:sp>
      <p:sp>
        <p:nvSpPr>
          <p:cNvPr id="234" name="Google Shape;234;p29"/>
          <p:cNvSpPr txBox="1"/>
          <p:nvPr/>
        </p:nvSpPr>
        <p:spPr>
          <a:xfrm>
            <a:off x="2924575" y="1755725"/>
            <a:ext cx="5779200" cy="3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Etapa EX: se repite tantos ciclos como necesite la op.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El pipeline retiene la instrucción en EX hasta que la unidad funcional termina.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dk1"/>
                </a:solidFill>
              </a:rPr>
              <a:t>Nuevos riesgos: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 RAW más largos: la instrucción que usa el resultado de MULTF debe esperar todos los ciclos de EX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" sz="1600" dirty="0">
                <a:solidFill>
                  <a:schemeClr val="dk1"/>
                </a:solidFill>
              </a:rPr>
              <a:t> WAW : si dos operaciones FP con distinta latencia escriben el mismo registro, la que empezó después puede terminar antes y sobreescribir con el valor incorrecto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FLOAT SIN OPTIMIZAR NI ADELANTAMIENTOS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0" name="Google Shape;2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9250"/>
            <a:ext cx="9144000" cy="184704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/>
          <p:nvPr/>
        </p:nvSpPr>
        <p:spPr>
          <a:xfrm>
            <a:off x="162200" y="2035000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0"/>
          <p:cNvSpPr/>
          <p:nvPr/>
        </p:nvSpPr>
        <p:spPr>
          <a:xfrm>
            <a:off x="387500" y="2161650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0"/>
          <p:cNvSpPr/>
          <p:nvPr/>
        </p:nvSpPr>
        <p:spPr>
          <a:xfrm>
            <a:off x="2500725" y="2161650"/>
            <a:ext cx="641100" cy="173100"/>
          </a:xfrm>
          <a:prstGeom prst="flowChartConnector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4" name="Google Shape;244;p30"/>
          <p:cNvCxnSpPr>
            <a:endCxn id="243" idx="7"/>
          </p:cNvCxnSpPr>
          <p:nvPr/>
        </p:nvCxnSpPr>
        <p:spPr>
          <a:xfrm flipH="1">
            <a:off x="3047938" y="2047800"/>
            <a:ext cx="769800" cy="13920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0"/>
          <p:cNvSpPr txBox="1"/>
          <p:nvPr/>
        </p:nvSpPr>
        <p:spPr>
          <a:xfrm>
            <a:off x="3714750" y="1793025"/>
            <a:ext cx="370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9900FF"/>
                </a:solidFill>
              </a:rPr>
              <a:t>Det1: Detención por riesgo de datos tipo RAW (R5)</a:t>
            </a:r>
            <a:endParaRPr sz="1000" b="1">
              <a:solidFill>
                <a:srgbClr val="9900FF"/>
              </a:solidFill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128025" y="2281875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0"/>
          <p:cNvSpPr/>
          <p:nvPr/>
        </p:nvSpPr>
        <p:spPr>
          <a:xfrm>
            <a:off x="467050" y="2427850"/>
            <a:ext cx="370800" cy="173100"/>
          </a:xfrm>
          <a:prstGeom prst="flowChartConnector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0"/>
          <p:cNvSpPr/>
          <p:nvPr/>
        </p:nvSpPr>
        <p:spPr>
          <a:xfrm>
            <a:off x="3714750" y="2427850"/>
            <a:ext cx="675600" cy="173100"/>
          </a:xfrm>
          <a:prstGeom prst="flowChartConnector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9" name="Google Shape;249;p30"/>
          <p:cNvCxnSpPr>
            <a:endCxn id="248" idx="7"/>
          </p:cNvCxnSpPr>
          <p:nvPr/>
        </p:nvCxnSpPr>
        <p:spPr>
          <a:xfrm flipH="1">
            <a:off x="4291411" y="2372200"/>
            <a:ext cx="555900" cy="810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0" name="Google Shape;250;p30"/>
          <p:cNvSpPr txBox="1"/>
          <p:nvPr/>
        </p:nvSpPr>
        <p:spPr>
          <a:xfrm>
            <a:off x="4484550" y="1990079"/>
            <a:ext cx="370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FF9900"/>
                </a:solidFill>
              </a:rPr>
              <a:t>Det2: Detención por riesgo de datos tipo RAW (R6)</a:t>
            </a:r>
            <a:endParaRPr sz="1000" b="1" dirty="0">
              <a:solidFill>
                <a:srgbClr val="FF9900"/>
              </a:solidFill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280425" y="2434275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0"/>
          <p:cNvSpPr/>
          <p:nvPr/>
        </p:nvSpPr>
        <p:spPr>
          <a:xfrm>
            <a:off x="467050" y="2571750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0"/>
          <p:cNvSpPr/>
          <p:nvPr/>
        </p:nvSpPr>
        <p:spPr>
          <a:xfrm>
            <a:off x="4622150" y="2571750"/>
            <a:ext cx="1551000" cy="173100"/>
          </a:xfrm>
          <a:prstGeom prst="flowChartConnector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4" name="Google Shape;254;p30"/>
          <p:cNvCxnSpPr>
            <a:endCxn id="253" idx="7"/>
          </p:cNvCxnSpPr>
          <p:nvPr/>
        </p:nvCxnSpPr>
        <p:spPr>
          <a:xfrm flipH="1">
            <a:off x="5946011" y="2521500"/>
            <a:ext cx="685500" cy="75600"/>
          </a:xfrm>
          <a:prstGeom prst="straightConnector1">
            <a:avLst/>
          </a:prstGeom>
          <a:noFill/>
          <a:ln w="19050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5" name="Google Shape;255;p30"/>
          <p:cNvSpPr txBox="1"/>
          <p:nvPr/>
        </p:nvSpPr>
        <p:spPr>
          <a:xfrm>
            <a:off x="6571645" y="2148331"/>
            <a:ext cx="2552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00FF00"/>
                </a:solidFill>
              </a:rPr>
              <a:t>Det2: Detención por riesgo de datos tipo RAW (R6)</a:t>
            </a:r>
            <a:endParaRPr sz="1000" b="1" dirty="0">
              <a:solidFill>
                <a:srgbClr val="00FF00"/>
              </a:solidFill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0" y="2975150"/>
            <a:ext cx="769800" cy="173100"/>
          </a:xfrm>
          <a:prstGeom prst="flowChartConnector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0"/>
          <p:cNvSpPr/>
          <p:nvPr/>
        </p:nvSpPr>
        <p:spPr>
          <a:xfrm>
            <a:off x="7051600" y="2942975"/>
            <a:ext cx="641100" cy="173100"/>
          </a:xfrm>
          <a:prstGeom prst="flowChartConnector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8" name="Google Shape;258;p30"/>
          <p:cNvCxnSpPr/>
          <p:nvPr/>
        </p:nvCxnSpPr>
        <p:spPr>
          <a:xfrm rot="10800000" flipH="1">
            <a:off x="5964400" y="3064575"/>
            <a:ext cx="1087200" cy="540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9" name="Google Shape;259;p30"/>
          <p:cNvSpPr txBox="1"/>
          <p:nvPr/>
        </p:nvSpPr>
        <p:spPr>
          <a:xfrm>
            <a:off x="4929850" y="3607825"/>
            <a:ext cx="370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00FF"/>
                </a:solidFill>
              </a:rPr>
              <a:t>Det3: Detención por riesgo de control (BNEZ R2)</a:t>
            </a:r>
            <a:endParaRPr sz="1000"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DIAGRAMA FLOAT SIN OPTIMIZAR CON ADELANTAMIENTOS</a:t>
            </a:r>
            <a:endParaRPr/>
          </a:p>
        </p:txBody>
      </p:sp>
      <p:pic>
        <p:nvPicPr>
          <p:cNvPr id="265" name="Google Shape;2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6975"/>
            <a:ext cx="9143999" cy="227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1"/>
          <p:cNvSpPr/>
          <p:nvPr/>
        </p:nvSpPr>
        <p:spPr>
          <a:xfrm>
            <a:off x="237125" y="2249050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1"/>
          <p:cNvSpPr/>
          <p:nvPr/>
        </p:nvSpPr>
        <p:spPr>
          <a:xfrm>
            <a:off x="528650" y="2422150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1"/>
          <p:cNvSpPr/>
          <p:nvPr/>
        </p:nvSpPr>
        <p:spPr>
          <a:xfrm>
            <a:off x="3495750" y="2398650"/>
            <a:ext cx="337800" cy="173100"/>
          </a:xfrm>
          <a:prstGeom prst="flowChartConnector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9" name="Google Shape;269;p31"/>
          <p:cNvCxnSpPr>
            <a:stCxn id="268" idx="7"/>
          </p:cNvCxnSpPr>
          <p:nvPr/>
        </p:nvCxnSpPr>
        <p:spPr>
          <a:xfrm rot="10800000" flipH="1">
            <a:off x="3784080" y="2121300"/>
            <a:ext cx="263400" cy="30270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0" name="Google Shape;270;p31"/>
          <p:cNvSpPr txBox="1"/>
          <p:nvPr/>
        </p:nvSpPr>
        <p:spPr>
          <a:xfrm>
            <a:off x="3887050" y="1782600"/>
            <a:ext cx="501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9900FF"/>
                </a:solidFill>
              </a:rPr>
              <a:t>Det1: Detención por riesgo de datos tipo RAW (R5)</a:t>
            </a:r>
            <a:endParaRPr sz="1000" b="1">
              <a:solidFill>
                <a:srgbClr val="9900FF"/>
              </a:solidFill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175475" y="2571750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1"/>
          <p:cNvSpPr/>
          <p:nvPr/>
        </p:nvSpPr>
        <p:spPr>
          <a:xfrm>
            <a:off x="595425" y="2744850"/>
            <a:ext cx="412800" cy="173100"/>
          </a:xfrm>
          <a:prstGeom prst="flowChartConnector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1"/>
          <p:cNvSpPr/>
          <p:nvPr/>
        </p:nvSpPr>
        <p:spPr>
          <a:xfrm>
            <a:off x="4632775" y="2744850"/>
            <a:ext cx="337800" cy="173100"/>
          </a:xfrm>
          <a:prstGeom prst="flowChartConnector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4" name="Google Shape;274;p31"/>
          <p:cNvCxnSpPr>
            <a:cxnSpLocks/>
            <a:stCxn id="273" idx="7"/>
          </p:cNvCxnSpPr>
          <p:nvPr/>
        </p:nvCxnSpPr>
        <p:spPr>
          <a:xfrm flipH="1" flipV="1">
            <a:off x="4880800" y="2255700"/>
            <a:ext cx="40305" cy="5145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5" name="Google Shape;275;p31"/>
          <p:cNvSpPr txBox="1"/>
          <p:nvPr/>
        </p:nvSpPr>
        <p:spPr>
          <a:xfrm>
            <a:off x="4572000" y="2044700"/>
            <a:ext cx="501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FF00FF"/>
                </a:solidFill>
              </a:rPr>
              <a:t>Det2: Detención por riesgo de datos tipo RAW (F6)</a:t>
            </a:r>
            <a:endParaRPr sz="1000" b="1">
              <a:solidFill>
                <a:srgbClr val="FF00FF"/>
              </a:solidFill>
            </a:endParaRPr>
          </a:p>
        </p:txBody>
      </p:sp>
      <p:cxnSp>
        <p:nvCxnSpPr>
          <p:cNvPr id="276" name="Google Shape;276;p31"/>
          <p:cNvCxnSpPr/>
          <p:nvPr/>
        </p:nvCxnSpPr>
        <p:spPr>
          <a:xfrm>
            <a:off x="4936150" y="2649100"/>
            <a:ext cx="152700" cy="115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7" name="Google Shape;277;p31"/>
          <p:cNvSpPr txBox="1"/>
          <p:nvPr/>
        </p:nvSpPr>
        <p:spPr>
          <a:xfrm>
            <a:off x="5233975" y="2339350"/>
            <a:ext cx="3474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FF0000"/>
                </a:solidFill>
              </a:rPr>
              <a:t>Adelantamiento 2: Salida MEM - Entrada ALU (F6)</a:t>
            </a:r>
            <a:endParaRPr sz="1000" b="1" dirty="0">
              <a:solidFill>
                <a:srgbClr val="FF0000"/>
              </a:solidFill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4632775" y="2886175"/>
            <a:ext cx="337800" cy="173100"/>
          </a:xfrm>
          <a:prstGeom prst="flowChartConnector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1"/>
          <p:cNvSpPr/>
          <p:nvPr/>
        </p:nvSpPr>
        <p:spPr>
          <a:xfrm>
            <a:off x="400775" y="2744850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1"/>
          <p:cNvSpPr/>
          <p:nvPr/>
        </p:nvSpPr>
        <p:spPr>
          <a:xfrm>
            <a:off x="626075" y="2886175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1"/>
          <p:cNvSpPr/>
          <p:nvPr/>
        </p:nvSpPr>
        <p:spPr>
          <a:xfrm>
            <a:off x="5322725" y="2896100"/>
            <a:ext cx="1193700" cy="173100"/>
          </a:xfrm>
          <a:prstGeom prst="flowChartConnector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2" name="Google Shape;282;p31"/>
          <p:cNvCxnSpPr/>
          <p:nvPr/>
        </p:nvCxnSpPr>
        <p:spPr>
          <a:xfrm>
            <a:off x="6434475" y="2802150"/>
            <a:ext cx="152700" cy="115800"/>
          </a:xfrm>
          <a:prstGeom prst="straightConnector1">
            <a:avLst/>
          </a:prstGeom>
          <a:noFill/>
          <a:ln w="19050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3" name="Google Shape;283;p31"/>
          <p:cNvSpPr txBox="1"/>
          <p:nvPr/>
        </p:nvSpPr>
        <p:spPr>
          <a:xfrm>
            <a:off x="5386375" y="2491750"/>
            <a:ext cx="3474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00FF00"/>
                </a:solidFill>
              </a:rPr>
              <a:t>Adelantamiento 3: Salida ALU - Entrada ALU (F6)</a:t>
            </a:r>
            <a:endParaRPr sz="1000" b="1" dirty="0">
              <a:solidFill>
                <a:srgbClr val="00FF00"/>
              </a:solidFill>
            </a:endParaRPr>
          </a:p>
        </p:txBody>
      </p:sp>
      <p:cxnSp>
        <p:nvCxnSpPr>
          <p:cNvPr id="284" name="Google Shape;284;p31"/>
          <p:cNvCxnSpPr/>
          <p:nvPr/>
        </p:nvCxnSpPr>
        <p:spPr>
          <a:xfrm rot="10800000" flipH="1">
            <a:off x="4839125" y="3030500"/>
            <a:ext cx="483600" cy="5331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5" name="Google Shape;285;p31"/>
          <p:cNvSpPr txBox="1"/>
          <p:nvPr/>
        </p:nvSpPr>
        <p:spPr>
          <a:xfrm>
            <a:off x="2788350" y="3581900"/>
            <a:ext cx="501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00FF"/>
                </a:solidFill>
              </a:rPr>
              <a:t>Det3: Detención por riesgo de datos tipo RAW (F6)</a:t>
            </a:r>
            <a:endParaRPr sz="1000" b="1">
              <a:solidFill>
                <a:srgbClr val="0000FF"/>
              </a:solidFill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0" y="3390500"/>
            <a:ext cx="1008300" cy="173100"/>
          </a:xfrm>
          <a:prstGeom prst="flowChartConnector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1"/>
          <p:cNvSpPr/>
          <p:nvPr/>
        </p:nvSpPr>
        <p:spPr>
          <a:xfrm>
            <a:off x="7257125" y="3410375"/>
            <a:ext cx="412800" cy="173100"/>
          </a:xfrm>
          <a:prstGeom prst="flowChartConnector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8" name="Google Shape;288;p31"/>
          <p:cNvCxnSpPr/>
          <p:nvPr/>
        </p:nvCxnSpPr>
        <p:spPr>
          <a:xfrm rot="10800000" flipH="1">
            <a:off x="6773525" y="3563600"/>
            <a:ext cx="483600" cy="533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" name="Google Shape;289;p31"/>
          <p:cNvSpPr txBox="1"/>
          <p:nvPr/>
        </p:nvSpPr>
        <p:spPr>
          <a:xfrm>
            <a:off x="4002225" y="4110525"/>
            <a:ext cx="501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FF9900"/>
                </a:solidFill>
              </a:rPr>
              <a:t>Det3: Detención por riesgo de control (BNEZ R2)</a:t>
            </a:r>
            <a:endParaRPr sz="1000" b="1">
              <a:solidFill>
                <a:srgbClr val="FF9900"/>
              </a:solidFill>
            </a:endParaRPr>
          </a:p>
        </p:txBody>
      </p:sp>
      <p:cxnSp>
        <p:nvCxnSpPr>
          <p:cNvPr id="2" name="Google Shape;276;p31">
            <a:extLst>
              <a:ext uri="{FF2B5EF4-FFF2-40B4-BE49-F238E27FC236}">
                <a16:creationId xmlns:a16="http://schemas.microsoft.com/office/drawing/2014/main" id="{A3E38375-2937-08F5-2CE2-75F89B9C1BB0}"/>
              </a:ext>
            </a:extLst>
          </p:cNvPr>
          <p:cNvCxnSpPr/>
          <p:nvPr/>
        </p:nvCxnSpPr>
        <p:spPr>
          <a:xfrm>
            <a:off x="3826053" y="2359963"/>
            <a:ext cx="152700" cy="11580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277;p31">
            <a:extLst>
              <a:ext uri="{FF2B5EF4-FFF2-40B4-BE49-F238E27FC236}">
                <a16:creationId xmlns:a16="http://schemas.microsoft.com/office/drawing/2014/main" id="{D4AF95C9-84A3-2DB0-8FE8-E734AF3042A1}"/>
              </a:ext>
            </a:extLst>
          </p:cNvPr>
          <p:cNvSpPr txBox="1"/>
          <p:nvPr/>
        </p:nvSpPr>
        <p:spPr>
          <a:xfrm>
            <a:off x="5165248" y="2183425"/>
            <a:ext cx="3474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chemeClr val="tx1"/>
                </a:solidFill>
              </a:rPr>
              <a:t>Adelantamiento 1: Salida MEM - Entrada ALU (R5)</a:t>
            </a:r>
            <a:endParaRPr sz="1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VERSION 4: FLOAT OPTIMIZADO</a:t>
            </a:r>
            <a:endParaRPr/>
          </a:p>
        </p:txBody>
      </p:sp>
      <p:sp>
        <p:nvSpPr>
          <p:cNvPr id="295" name="Google Shape;295;p32"/>
          <p:cNvSpPr txBox="1"/>
          <p:nvPr/>
        </p:nvSpPr>
        <p:spPr>
          <a:xfrm>
            <a:off x="583125" y="1363700"/>
            <a:ext cx="7910400" cy="340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619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100"/>
              <a:buFont typeface="Arial"/>
              <a:buChar char="-"/>
            </a:pPr>
            <a:r>
              <a:rPr lang="es" sz="1600" b="1" dirty="0">
                <a:solidFill>
                  <a:schemeClr val="dk1"/>
                </a:solidFill>
              </a:rPr>
              <a:t>Técnica aplicada: </a:t>
            </a:r>
            <a:r>
              <a:rPr lang="es-ES" sz="1600" dirty="0">
                <a:solidFill>
                  <a:schemeClr val="dk1"/>
                </a:solidFill>
              </a:rPr>
              <a:t>Planificación de traza (quitamos) y desenrollado de bucle</a:t>
            </a:r>
            <a:endParaRPr lang="es" sz="1600" dirty="0">
              <a:solidFill>
                <a:schemeClr val="dk1"/>
              </a:solidFill>
            </a:endParaRPr>
          </a:p>
          <a:p>
            <a:pPr marL="95250" lvl="8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100"/>
            </a:pPr>
            <a:r>
              <a:rPr lang="es" sz="1600" dirty="0">
                <a:solidFill>
                  <a:schemeClr val="dk1"/>
                </a:solidFill>
              </a:rPr>
              <a:t>	-     Mayor margen que en enteros: MULTF tiene 7 ciclos de EX → más 	      huecos disponibles para reducir detenciones</a:t>
            </a:r>
          </a:p>
          <a:p>
            <a:pPr marL="95250" lvl="8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100"/>
            </a:pPr>
            <a:r>
              <a:rPr lang="es" sz="1600" dirty="0">
                <a:solidFill>
                  <a:schemeClr val="dk1"/>
                </a:solidFill>
              </a:rPr>
              <a:t>	-     </a:t>
            </a:r>
            <a:r>
              <a:rPr lang="es-ES" sz="1600" dirty="0">
                <a:solidFill>
                  <a:schemeClr val="dk1"/>
                </a:solidFill>
              </a:rPr>
              <a:t>Quitamos el decremento del contador de iteraciones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FLOAT OPTIMIZADO</a:t>
            </a:r>
            <a:endParaRPr/>
          </a:p>
        </p:txBody>
      </p:sp>
      <p:pic>
        <p:nvPicPr>
          <p:cNvPr id="302" name="Google Shape;302;p33"/>
          <p:cNvPicPr preferRelativeResize="0"/>
          <p:nvPr/>
        </p:nvPicPr>
        <p:blipFill rotWithShape="1">
          <a:blip r:embed="rId3">
            <a:alphaModFix/>
          </a:blip>
          <a:srcRect l="4571"/>
          <a:stretch/>
        </p:blipFill>
        <p:spPr>
          <a:xfrm>
            <a:off x="5141875" y="1170125"/>
            <a:ext cx="3998911" cy="14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B74851C-F857-E0C1-DBFC-60BF7E15B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17725"/>
            <a:ext cx="5047170" cy="344925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FLOAT OPTIMIZADO SIN ADELANTAMIENTOS</a:t>
            </a:r>
            <a:endParaRPr/>
          </a:p>
        </p:txBody>
      </p:sp>
      <p:pic>
        <p:nvPicPr>
          <p:cNvPr id="308" name="Google Shape;30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0375"/>
            <a:ext cx="9144001" cy="144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4"/>
          <p:cNvSpPr/>
          <p:nvPr/>
        </p:nvSpPr>
        <p:spPr>
          <a:xfrm>
            <a:off x="245025" y="2024650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4"/>
          <p:cNvSpPr/>
          <p:nvPr/>
        </p:nvSpPr>
        <p:spPr>
          <a:xfrm>
            <a:off x="470325" y="2197750"/>
            <a:ext cx="380400" cy="1731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4"/>
          <p:cNvSpPr/>
          <p:nvPr/>
        </p:nvSpPr>
        <p:spPr>
          <a:xfrm>
            <a:off x="2527300" y="2197750"/>
            <a:ext cx="903900" cy="173100"/>
          </a:xfrm>
          <a:prstGeom prst="flowChartConnector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2" name="Google Shape;312;p34"/>
          <p:cNvCxnSpPr>
            <a:stCxn id="311" idx="7"/>
          </p:cNvCxnSpPr>
          <p:nvPr/>
        </p:nvCxnSpPr>
        <p:spPr>
          <a:xfrm rot="10800000" flipH="1">
            <a:off x="3298827" y="2134600"/>
            <a:ext cx="784500" cy="8850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3" name="Google Shape;313;p34"/>
          <p:cNvSpPr txBox="1"/>
          <p:nvPr/>
        </p:nvSpPr>
        <p:spPr>
          <a:xfrm>
            <a:off x="4000500" y="1884400"/>
            <a:ext cx="504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9900FF"/>
                </a:solidFill>
              </a:rPr>
              <a:t>Det1: Detención por riesgo de datos tipo RAW (R5)</a:t>
            </a:r>
            <a:endParaRPr sz="1000" b="1">
              <a:solidFill>
                <a:srgbClr val="9900FF"/>
              </a:solidFill>
            </a:endParaRPr>
          </a:p>
        </p:txBody>
      </p:sp>
      <p:sp>
        <p:nvSpPr>
          <p:cNvPr id="314" name="Google Shape;314;p34"/>
          <p:cNvSpPr/>
          <p:nvPr/>
        </p:nvSpPr>
        <p:spPr>
          <a:xfrm>
            <a:off x="180000" y="2197750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4"/>
          <p:cNvSpPr/>
          <p:nvPr/>
        </p:nvSpPr>
        <p:spPr>
          <a:xfrm>
            <a:off x="568575" y="2370850"/>
            <a:ext cx="522600" cy="173100"/>
          </a:xfrm>
          <a:prstGeom prst="flowChartConnector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4"/>
          <p:cNvSpPr/>
          <p:nvPr/>
        </p:nvSpPr>
        <p:spPr>
          <a:xfrm>
            <a:off x="405300" y="2398650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4"/>
          <p:cNvSpPr/>
          <p:nvPr/>
        </p:nvSpPr>
        <p:spPr>
          <a:xfrm>
            <a:off x="630600" y="2571750"/>
            <a:ext cx="225300" cy="173100"/>
          </a:xfrm>
          <a:prstGeom prst="flowChartConnector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4"/>
          <p:cNvSpPr/>
          <p:nvPr/>
        </p:nvSpPr>
        <p:spPr>
          <a:xfrm>
            <a:off x="3775200" y="2370850"/>
            <a:ext cx="846600" cy="173100"/>
          </a:xfrm>
          <a:prstGeom prst="flowChartConnector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9" name="Google Shape;319;p34"/>
          <p:cNvCxnSpPr>
            <a:stCxn id="318" idx="7"/>
          </p:cNvCxnSpPr>
          <p:nvPr/>
        </p:nvCxnSpPr>
        <p:spPr>
          <a:xfrm rot="10800000" flipH="1">
            <a:off x="4497818" y="2310100"/>
            <a:ext cx="786300" cy="861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0" name="Google Shape;320;p34"/>
          <p:cNvSpPr txBox="1"/>
          <p:nvPr/>
        </p:nvSpPr>
        <p:spPr>
          <a:xfrm>
            <a:off x="5284125" y="2114950"/>
            <a:ext cx="504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0000FF"/>
                </a:solidFill>
              </a:rPr>
              <a:t>Det2: Detención por riesgo de datos tipo RAW (F6)</a:t>
            </a:r>
            <a:endParaRPr sz="1000" b="1" dirty="0">
              <a:solidFill>
                <a:srgbClr val="0000FF"/>
              </a:solidFill>
            </a:endParaRPr>
          </a:p>
        </p:txBody>
      </p:sp>
      <p:sp>
        <p:nvSpPr>
          <p:cNvPr id="321" name="Google Shape;321;p34"/>
          <p:cNvSpPr/>
          <p:nvPr/>
        </p:nvSpPr>
        <p:spPr>
          <a:xfrm>
            <a:off x="4965725" y="2543950"/>
            <a:ext cx="2109600" cy="201000"/>
          </a:xfrm>
          <a:prstGeom prst="flowChartConnector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2" name="Google Shape;322;p34"/>
          <p:cNvCxnSpPr>
            <a:stCxn id="321" idx="2"/>
          </p:cNvCxnSpPr>
          <p:nvPr/>
        </p:nvCxnSpPr>
        <p:spPr>
          <a:xfrm flipH="1">
            <a:off x="4342025" y="2644450"/>
            <a:ext cx="623700" cy="3705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3" name="Google Shape;323;p34"/>
          <p:cNvSpPr txBox="1"/>
          <p:nvPr/>
        </p:nvSpPr>
        <p:spPr>
          <a:xfrm>
            <a:off x="2951750" y="3065800"/>
            <a:ext cx="504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FF9900"/>
                </a:solidFill>
              </a:rPr>
              <a:t>Det3: Detención por riesgo de datos tipo RAW (F6)</a:t>
            </a:r>
            <a:endParaRPr sz="10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FLOAT OPTIMIZADO CON ADELANTAMIENTOS</a:t>
            </a:r>
            <a:endParaRPr/>
          </a:p>
        </p:txBody>
      </p:sp>
      <p:pic>
        <p:nvPicPr>
          <p:cNvPr id="329" name="Google Shape;3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39325"/>
            <a:ext cx="9144000" cy="1661474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5"/>
          <p:cNvSpPr/>
          <p:nvPr/>
        </p:nvSpPr>
        <p:spPr>
          <a:xfrm>
            <a:off x="311700" y="2103775"/>
            <a:ext cx="303300" cy="1767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5"/>
          <p:cNvSpPr/>
          <p:nvPr/>
        </p:nvSpPr>
        <p:spPr>
          <a:xfrm>
            <a:off x="563075" y="2339100"/>
            <a:ext cx="476400" cy="176700"/>
          </a:xfrm>
          <a:prstGeom prst="flowChartConnector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5"/>
          <p:cNvSpPr/>
          <p:nvPr/>
        </p:nvSpPr>
        <p:spPr>
          <a:xfrm>
            <a:off x="3469450" y="2280475"/>
            <a:ext cx="476400" cy="233400"/>
          </a:xfrm>
          <a:prstGeom prst="flowChartConnector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3" name="Google Shape;333;p35"/>
          <p:cNvCxnSpPr/>
          <p:nvPr/>
        </p:nvCxnSpPr>
        <p:spPr>
          <a:xfrm rot="10800000" flipH="1">
            <a:off x="3945852" y="2225812"/>
            <a:ext cx="784500" cy="8850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4" name="Google Shape;334;p35"/>
          <p:cNvSpPr txBox="1"/>
          <p:nvPr/>
        </p:nvSpPr>
        <p:spPr>
          <a:xfrm>
            <a:off x="4730350" y="1941775"/>
            <a:ext cx="439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9900FF"/>
                </a:solidFill>
              </a:rPr>
              <a:t>Det1: Detención por riesgo de datos tipo RAW (R5)</a:t>
            </a:r>
            <a:endParaRPr sz="1000" b="1">
              <a:solidFill>
                <a:srgbClr val="9900FF"/>
              </a:solidFill>
            </a:endParaRPr>
          </a:p>
        </p:txBody>
      </p:sp>
      <p:cxnSp>
        <p:nvCxnSpPr>
          <p:cNvPr id="335" name="Google Shape;335;p35"/>
          <p:cNvCxnSpPr/>
          <p:nvPr/>
        </p:nvCxnSpPr>
        <p:spPr>
          <a:xfrm>
            <a:off x="3911825" y="2214825"/>
            <a:ext cx="372300" cy="1641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6" name="Google Shape;336;p35"/>
          <p:cNvSpPr txBox="1"/>
          <p:nvPr/>
        </p:nvSpPr>
        <p:spPr>
          <a:xfrm>
            <a:off x="3945850" y="1765075"/>
            <a:ext cx="439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FF00FF"/>
                </a:solidFill>
              </a:rPr>
              <a:t>Adelantamiento 1: Salida MEM - Entrada ALU (R5)</a:t>
            </a:r>
            <a:endParaRPr sz="1000" b="1">
              <a:solidFill>
                <a:srgbClr val="FF00FF"/>
              </a:solidFill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259775" y="2308825"/>
            <a:ext cx="303300" cy="176700"/>
          </a:xfrm>
          <a:prstGeom prst="flowChartConnector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5"/>
          <p:cNvSpPr/>
          <p:nvPr/>
        </p:nvSpPr>
        <p:spPr>
          <a:xfrm>
            <a:off x="736175" y="2528400"/>
            <a:ext cx="476400" cy="164100"/>
          </a:xfrm>
          <a:prstGeom prst="flowChartConnector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5"/>
          <p:cNvSpPr/>
          <p:nvPr/>
        </p:nvSpPr>
        <p:spPr>
          <a:xfrm>
            <a:off x="3469450" y="2528400"/>
            <a:ext cx="476400" cy="164100"/>
          </a:xfrm>
          <a:prstGeom prst="flowChartConnector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5"/>
          <p:cNvSpPr/>
          <p:nvPr/>
        </p:nvSpPr>
        <p:spPr>
          <a:xfrm>
            <a:off x="4403875" y="2528400"/>
            <a:ext cx="476400" cy="164100"/>
          </a:xfrm>
          <a:prstGeom prst="flowChartConnector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1" name="Google Shape;341;p35"/>
          <p:cNvCxnSpPr>
            <a:endCxn id="339" idx="2"/>
          </p:cNvCxnSpPr>
          <p:nvPr/>
        </p:nvCxnSpPr>
        <p:spPr>
          <a:xfrm rot="10800000" flipH="1">
            <a:off x="2445850" y="2610450"/>
            <a:ext cx="1023600" cy="6240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2" name="Google Shape;342;p35"/>
          <p:cNvCxnSpPr>
            <a:endCxn id="340" idx="2"/>
          </p:cNvCxnSpPr>
          <p:nvPr/>
        </p:nvCxnSpPr>
        <p:spPr>
          <a:xfrm rot="10800000" flipH="1">
            <a:off x="2948275" y="2610450"/>
            <a:ext cx="1455600" cy="7125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3" name="Google Shape;343;p35"/>
          <p:cNvSpPr txBox="1"/>
          <p:nvPr/>
        </p:nvSpPr>
        <p:spPr>
          <a:xfrm>
            <a:off x="1212575" y="3279950"/>
            <a:ext cx="439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FF9900"/>
                </a:solidFill>
              </a:rPr>
              <a:t>Det2: Detención por riesgo de datos tipo RAW (F6)</a:t>
            </a:r>
            <a:endParaRPr sz="1000" b="1">
              <a:solidFill>
                <a:srgbClr val="FF9900"/>
              </a:solidFill>
            </a:endParaRPr>
          </a:p>
        </p:txBody>
      </p:sp>
      <p:cxnSp>
        <p:nvCxnSpPr>
          <p:cNvPr id="344" name="Google Shape;344;p35"/>
          <p:cNvCxnSpPr/>
          <p:nvPr/>
        </p:nvCxnSpPr>
        <p:spPr>
          <a:xfrm>
            <a:off x="4788675" y="2446350"/>
            <a:ext cx="372300" cy="1641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5" name="Google Shape;345;p35"/>
          <p:cNvSpPr txBox="1"/>
          <p:nvPr/>
        </p:nvSpPr>
        <p:spPr>
          <a:xfrm>
            <a:off x="5400650" y="2214825"/>
            <a:ext cx="439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00FF"/>
                </a:solidFill>
              </a:rPr>
              <a:t>Adelantamiento 2: Salida MEM - Entrada ALU (F6)</a:t>
            </a:r>
            <a:endParaRPr sz="1000" b="1">
              <a:solidFill>
                <a:srgbClr val="0000FF"/>
              </a:solidFill>
            </a:endParaRPr>
          </a:p>
        </p:txBody>
      </p:sp>
      <p:sp>
        <p:nvSpPr>
          <p:cNvPr id="346" name="Google Shape;346;p35"/>
          <p:cNvSpPr/>
          <p:nvPr/>
        </p:nvSpPr>
        <p:spPr>
          <a:xfrm>
            <a:off x="4403875" y="2715075"/>
            <a:ext cx="476400" cy="164100"/>
          </a:xfrm>
          <a:prstGeom prst="flowChartConnector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7" name="Google Shape;347;p35"/>
          <p:cNvCxnSpPr/>
          <p:nvPr/>
        </p:nvCxnSpPr>
        <p:spPr>
          <a:xfrm rot="10800000" flipH="1">
            <a:off x="3258175" y="2841975"/>
            <a:ext cx="1145700" cy="5172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8" name="Google Shape;348;p35"/>
          <p:cNvSpPr/>
          <p:nvPr/>
        </p:nvSpPr>
        <p:spPr>
          <a:xfrm>
            <a:off x="736175" y="2702475"/>
            <a:ext cx="372300" cy="176700"/>
          </a:xfrm>
          <a:prstGeom prst="flowChartConnector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5"/>
          <p:cNvSpPr/>
          <p:nvPr/>
        </p:nvSpPr>
        <p:spPr>
          <a:xfrm>
            <a:off x="451200" y="2505650"/>
            <a:ext cx="372300" cy="176700"/>
          </a:xfrm>
          <a:prstGeom prst="flowChartConnector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5"/>
          <p:cNvSpPr/>
          <p:nvPr/>
        </p:nvSpPr>
        <p:spPr>
          <a:xfrm>
            <a:off x="5317500" y="2708775"/>
            <a:ext cx="1517100" cy="233400"/>
          </a:xfrm>
          <a:prstGeom prst="flowChartConnector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1" name="Google Shape;351;p35"/>
          <p:cNvCxnSpPr/>
          <p:nvPr/>
        </p:nvCxnSpPr>
        <p:spPr>
          <a:xfrm rot="10800000">
            <a:off x="5934350" y="2983875"/>
            <a:ext cx="142200" cy="519000"/>
          </a:xfrm>
          <a:prstGeom prst="straightConnector1">
            <a:avLst/>
          </a:prstGeom>
          <a:noFill/>
          <a:ln w="19050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2" name="Google Shape;352;p35"/>
          <p:cNvSpPr txBox="1"/>
          <p:nvPr/>
        </p:nvSpPr>
        <p:spPr>
          <a:xfrm>
            <a:off x="3878100" y="3544575"/>
            <a:ext cx="439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00FF00"/>
                </a:solidFill>
              </a:rPr>
              <a:t>Det3: Detención por riesgo de datos tipo RAW (F6)</a:t>
            </a:r>
            <a:endParaRPr sz="1000" b="1" dirty="0">
              <a:solidFill>
                <a:srgbClr val="00FF00"/>
              </a:solidFill>
            </a:endParaRPr>
          </a:p>
        </p:txBody>
      </p:sp>
      <p:cxnSp>
        <p:nvCxnSpPr>
          <p:cNvPr id="353" name="Google Shape;353;p35"/>
          <p:cNvCxnSpPr/>
          <p:nvPr/>
        </p:nvCxnSpPr>
        <p:spPr>
          <a:xfrm>
            <a:off x="6632250" y="2610450"/>
            <a:ext cx="372300" cy="1641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4" name="Google Shape;354;p35"/>
          <p:cNvSpPr txBox="1"/>
          <p:nvPr/>
        </p:nvSpPr>
        <p:spPr>
          <a:xfrm>
            <a:off x="5985977" y="3029774"/>
            <a:ext cx="3225246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FF0000"/>
                </a:solidFill>
              </a:rPr>
              <a:t>Adelantamiento 3: Salida ALU - Entrada ALU (F6)</a:t>
            </a:r>
            <a:endParaRPr sz="1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COMPARATIVA RESULTADOS</a:t>
            </a:r>
            <a:endParaRPr/>
          </a:p>
        </p:txBody>
      </p:sp>
      <p:graphicFrame>
        <p:nvGraphicFramePr>
          <p:cNvPr id="360" name="Google Shape;360;p36"/>
          <p:cNvGraphicFramePr/>
          <p:nvPr/>
        </p:nvGraphicFramePr>
        <p:xfrm>
          <a:off x="601288" y="1474575"/>
          <a:ext cx="7941400" cy="2194410"/>
        </p:xfrm>
        <a:graphic>
          <a:graphicData uri="http://schemas.openxmlformats.org/drawingml/2006/table">
            <a:tbl>
              <a:tblPr>
                <a:noFill/>
                <a:tableStyleId>{3F1BC6A6-187D-44A4-BD8C-6D63A3922AF1}</a:tableStyleId>
              </a:tblPr>
              <a:tblGrid>
                <a:gridCol w="17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5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VERSIÓN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CICLOS SIN 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RAW SIN 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CICLOS CON 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RAW CON 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WAW CON AD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1. INT SIN OPT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129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92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2. INT OPT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60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3. FLOAT SIN OPT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156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83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119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4. FLOAT OPT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136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90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87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Microsoft Office PowerPoint</Application>
  <PresentationFormat>Presentación en pantalla (16:9)</PresentationFormat>
  <Paragraphs>168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6" baseType="lpstr">
      <vt:lpstr>Arial</vt:lpstr>
      <vt:lpstr>Simple Light</vt:lpstr>
      <vt:lpstr>PRÁCTICA 4 AC PROGRAMACIÓN PARA DLX</vt:lpstr>
      <vt:lpstr>EJERCICIO</vt:lpstr>
      <vt:lpstr>EL COMPUTADOR DLX</vt:lpstr>
      <vt:lpstr>TIPOS DE RIESGOS DEL PIPELINE</vt:lpstr>
      <vt:lpstr>ADELANTAMIENTO</vt:lpstr>
      <vt:lpstr>TÉCNICAS OPTIMIZACIÓN</vt:lpstr>
      <vt:lpstr>VERSIÓN 1: INT SIN OPTIMIZAR</vt:lpstr>
      <vt:lpstr>CÓDIGO ENTEROS SIN OPTIMIZAR</vt:lpstr>
      <vt:lpstr>DIAGRAMA ENTEROS SIN OPTIMIZAR NI ADELANTAMIENTOS</vt:lpstr>
      <vt:lpstr>DIAGRAMA ENTEROS SIN OPTIMIZAR CON ADELANTAMIENTOS</vt:lpstr>
      <vt:lpstr>VERSIÓN 2: INT OPTIMIZADO</vt:lpstr>
      <vt:lpstr>CÓDIGO ENTEROS OPTIMIZADO</vt:lpstr>
      <vt:lpstr>DIAGRAMA ENTEROS OPTIMIZADO SIN ADELANTAMIENTOS</vt:lpstr>
      <vt:lpstr>DIAGRAMA ENTEROS OPTIMIZADO CON ADELANTAMIENTOS</vt:lpstr>
      <vt:lpstr>VERSION 3: FLOAT SIN OPTIMIZAR</vt:lpstr>
      <vt:lpstr>CÓDIGO FLOAT SIN OPTIMIZAR</vt:lpstr>
      <vt:lpstr>CÓDIGO FLOAT SIN OPTIMIZAR</vt:lpstr>
      <vt:lpstr>DIAGRAMA FLOAT SIN OPTIMIZAR NI ADELANTAMIENTOS </vt:lpstr>
      <vt:lpstr>DIAGRAMA FLOAT SIN OPTIMIZAR CON ADELANTAMIENTOS</vt:lpstr>
      <vt:lpstr>VERSION 4: FLOAT OPTIMIZADO</vt:lpstr>
      <vt:lpstr>CÓDIGO FLOAT OPTIMIZADO</vt:lpstr>
      <vt:lpstr>DIAGRAMA FLOAT OPTIMIZADO SIN ADELANTAMIENTOS</vt:lpstr>
      <vt:lpstr>DIAGRAMA FLOAT OPTIMIZADO CON ADELANTAMIENTOS</vt:lpstr>
      <vt:lpstr>COMPARATIVA RESULTADOS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 Airam Saavedra Paiseo</cp:lastModifiedBy>
  <cp:revision>1</cp:revision>
  <dcterms:modified xsi:type="dcterms:W3CDTF">2026-05-20T07:44:09Z</dcterms:modified>
</cp:coreProperties>
</file>